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9" r:id="rId2"/>
    <p:sldId id="260" r:id="rId3"/>
    <p:sldId id="299" r:id="rId4"/>
    <p:sldId id="294" r:id="rId5"/>
    <p:sldId id="262" r:id="rId6"/>
    <p:sldId id="300" r:id="rId7"/>
    <p:sldId id="263" r:id="rId8"/>
    <p:sldId id="271" r:id="rId9"/>
    <p:sldId id="264" r:id="rId10"/>
    <p:sldId id="301" r:id="rId11"/>
    <p:sldId id="265" r:id="rId12"/>
    <p:sldId id="302" r:id="rId13"/>
    <p:sldId id="308" r:id="rId14"/>
    <p:sldId id="311" r:id="rId15"/>
    <p:sldId id="304" r:id="rId16"/>
    <p:sldId id="312" r:id="rId17"/>
    <p:sldId id="309" r:id="rId18"/>
    <p:sldId id="313" r:id="rId19"/>
    <p:sldId id="310" r:id="rId20"/>
    <p:sldId id="317" r:id="rId21"/>
    <p:sldId id="318" r:id="rId22"/>
    <p:sldId id="322" r:id="rId23"/>
    <p:sldId id="321" r:id="rId24"/>
    <p:sldId id="323" r:id="rId25"/>
    <p:sldId id="325" r:id="rId26"/>
    <p:sldId id="326" r:id="rId27"/>
    <p:sldId id="324" r:id="rId28"/>
    <p:sldId id="305" r:id="rId29"/>
    <p:sldId id="306" r:id="rId30"/>
    <p:sldId id="307" r:id="rId31"/>
    <p:sldId id="314" r:id="rId32"/>
    <p:sldId id="316" r:id="rId33"/>
    <p:sldId id="298" r:id="rId34"/>
    <p:sldId id="303" r:id="rId35"/>
    <p:sldId id="334" r:id="rId36"/>
    <p:sldId id="335" r:id="rId37"/>
    <p:sldId id="338" r:id="rId38"/>
    <p:sldId id="337" r:id="rId39"/>
    <p:sldId id="339" r:id="rId40"/>
    <p:sldId id="340" r:id="rId41"/>
    <p:sldId id="341" r:id="rId42"/>
    <p:sldId id="342" r:id="rId43"/>
    <p:sldId id="343" r:id="rId44"/>
    <p:sldId id="344" r:id="rId45"/>
    <p:sldId id="329" r:id="rId46"/>
    <p:sldId id="346" r:id="rId47"/>
    <p:sldId id="266" r:id="rId48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828D"/>
    <a:srgbClr val="27BBCB"/>
    <a:srgbClr val="FFFFFF"/>
    <a:srgbClr val="F8D367"/>
    <a:srgbClr val="40464B"/>
    <a:srgbClr val="E6E122"/>
    <a:srgbClr val="F0F2E5"/>
    <a:srgbClr val="A6DCBC"/>
    <a:srgbClr val="6DC3AC"/>
    <a:srgbClr val="6CA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5962" autoAdjust="0"/>
  </p:normalViewPr>
  <p:slideViewPr>
    <p:cSldViewPr snapToGrid="0">
      <p:cViewPr varScale="1">
        <p:scale>
          <a:sx n="110" d="100"/>
          <a:sy n="110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98407-7539-4C88-B591-2FC07A4ED2BC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C4B-121D-46CC-9D52-F4252E0865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447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021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20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925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914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290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007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71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335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535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277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853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390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4049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197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80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457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191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329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4816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24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544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2238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3324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4521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5829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1906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260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217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6728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7830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21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5764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0067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493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9288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2636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182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9584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7368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031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0880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3372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7646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1015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3987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0420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C4B-121D-46CC-9D52-F4252E0865F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65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F0768-A318-462A-8579-2AAA16CAA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2C8DE8-04E8-41E6-998E-DA5854CFA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C7C9C7-458F-4D14-9AE2-250108E1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24D14-F3A1-4863-B750-5A5AA289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BF24F5-BB3B-4C10-B92D-3804E4C2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09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92A84-9CB7-425E-AAA9-7DFA08BD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CF38A0-1CF4-46B4-857F-7F8D1EC1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FD544-D555-498C-A6D0-A4D455D7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E8CD7-4FCC-492D-AD10-94D5D4A0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CA00A-53B5-4DDD-B42B-1D69E01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52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4DBF0-858F-4A1C-AE42-DE5AB2B3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0DA71B-3FAA-4FF0-8359-B75BDED6A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BF1296-7C2F-4798-8D43-6F1C3F61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BF321D-B2D8-487B-87DD-9DDE9235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DC2DAB-FAC6-4663-9FE9-1C17DA1B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35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369F1-51DF-4B91-9D1A-E56F909C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B5A57-34BE-495F-8A97-FAB395714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C61E90-A2B4-436B-98CA-C6905AEF8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AB2408-A31E-4E1E-B329-89ADC15D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B3F543-739D-4FC6-8076-B757E233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B35F0C-0338-47FA-9024-EF0BCFBB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44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BC686-C314-4380-9BA7-2AF7F4DA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6DD742-8EC0-43E8-A35C-703FCF4F7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A61EB8-9191-448C-884A-F6989E36D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D8769E-1404-4E8F-AA63-A2761C79A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577CCA-650F-434C-83FA-118534E1E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ACE31C-2DD2-4181-9476-2685236F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5854EE-0EA7-4442-AA76-A6466A91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A228C1-28C5-4BB4-9745-9AEAC695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49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04D94-867E-40B1-A074-12F1D09C8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F0A4E7-15F6-4915-AC7A-3F227886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384BD9-A0A1-4085-87FD-B1C9BF13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688AD0-9CC8-4B89-9D44-BDB9A2AD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45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4F58F8-E2C2-402D-9CD9-F34F3E51D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2E3BB5-BC67-42D2-8015-89F4C77C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6AD334-AEBF-41D1-AA9B-49034F9E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01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D19F5-F137-4598-9A56-47C62C85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EBA34-620B-4F91-B553-576B76118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808EAF-6346-4CB5-9BD9-55803F325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3B8F15-8258-4576-AAB5-E000E5C4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C0AEF1-2F7A-461A-A642-B1C889F7C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4FBB6B-E0A1-4DC8-B397-9893B8A5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4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B73AC-4767-4B59-81CB-D477CC2D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B5F0EB8-FCBD-4572-803A-1A76A194B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7C43FF-A1A9-4CB5-B05C-0295A0CF4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F43A5F-411F-4715-8F89-7EC7815F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F148FB-9D86-42B2-ADE4-0963BF70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1B801C-8DEF-4FFE-92A7-22F499A4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6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233D2-1CC8-4BDD-A71D-3F772488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6FCC95-86DD-494E-92E6-C4797E651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6D96F1-75BC-479E-BCEE-DDD834EC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C014E9-B500-4771-BEE0-4B21589D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25CF27-DA2E-4EE7-9FF7-A38CC4505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00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6D91FA-6BEB-4CA3-9294-2DD93A626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5C5941-E6E9-4A6D-9AB5-C15E427E0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660051-1204-42AF-ABB1-48F09FBA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187EA2-02DD-439E-A2E5-B4870FA6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426ED0-5823-482B-B355-336A50AE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28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7737FD-11EB-4271-A077-726FE957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5A2E1E-B078-43C4-B2C8-C60358829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36D03B-F91E-4483-A64E-7A1B95C49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979D9-E8A7-4020-9F53-DCBB73454201}" type="datetimeFigureOut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CE6888-A751-4FB7-AA60-01A458FA1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438ABB-79B8-4C79-A662-3DB8AE9A2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2D614-3122-4AE3-B731-49486E389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48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C16DAA-CD44-48FD-852D-977BFBD33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953" y="-175124"/>
            <a:ext cx="9752893" cy="688798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81B6F3E-380E-4F3B-B833-6D6CB52DA400}"/>
              </a:ext>
            </a:extLst>
          </p:cNvPr>
          <p:cNvSpPr/>
          <p:nvPr/>
        </p:nvSpPr>
        <p:spPr>
          <a:xfrm>
            <a:off x="0" y="2473038"/>
            <a:ext cx="12192000" cy="2992584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57E46E-41FE-4905-8921-75D72F0C9E6C}"/>
              </a:ext>
            </a:extLst>
          </p:cNvPr>
          <p:cNvSpPr txBox="1"/>
          <p:nvPr/>
        </p:nvSpPr>
        <p:spPr>
          <a:xfrm>
            <a:off x="2552290" y="2884321"/>
            <a:ext cx="708742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分布式数据库</a:t>
            </a:r>
          </a:p>
        </p:txBody>
      </p:sp>
      <p:sp>
        <p:nvSpPr>
          <p:cNvPr id="2" name="箭头: V 形 1">
            <a:extLst>
              <a:ext uri="{FF2B5EF4-FFF2-40B4-BE49-F238E27FC236}">
                <a16:creationId xmlns:a16="http://schemas.microsoft.com/office/drawing/2014/main" id="{6044F12E-57AB-454C-B69D-43ACC9226BB6}"/>
              </a:ext>
            </a:extLst>
          </p:cNvPr>
          <p:cNvSpPr/>
          <p:nvPr/>
        </p:nvSpPr>
        <p:spPr>
          <a:xfrm rot="5400000">
            <a:off x="5912213" y="6023052"/>
            <a:ext cx="367574" cy="637310"/>
          </a:xfrm>
          <a:prstGeom prst="chevron">
            <a:avLst>
              <a:gd name="adj" fmla="val 70000"/>
            </a:avLst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7511F5-9681-4046-9B88-BC156BD5AB66}"/>
              </a:ext>
            </a:extLst>
          </p:cNvPr>
          <p:cNvSpPr txBox="1"/>
          <p:nvPr/>
        </p:nvSpPr>
        <p:spPr>
          <a:xfrm>
            <a:off x="2552290" y="4523601"/>
            <a:ext cx="6765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组员：雷承霖 王斌 闵继勇 朱在亮 黄春晓</a:t>
            </a:r>
          </a:p>
        </p:txBody>
      </p:sp>
    </p:spTree>
    <p:extLst>
      <p:ext uri="{BB962C8B-B14F-4D97-AF65-F5344CB8AC3E}">
        <p14:creationId xmlns:p14="http://schemas.microsoft.com/office/powerpoint/2010/main" val="123059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4E0EAB-8681-4E3F-91C1-B50C1009C7CB}"/>
              </a:ext>
            </a:extLst>
          </p:cNvPr>
          <p:cNvSpPr/>
          <p:nvPr/>
        </p:nvSpPr>
        <p:spPr>
          <a:xfrm>
            <a:off x="0" y="519971"/>
            <a:ext cx="12192000" cy="1508053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7A9D0B-9BB6-482C-8701-85567258E811}"/>
              </a:ext>
            </a:extLst>
          </p:cNvPr>
          <p:cNvSpPr txBox="1"/>
          <p:nvPr/>
        </p:nvSpPr>
        <p:spPr>
          <a:xfrm>
            <a:off x="1004456" y="903385"/>
            <a:ext cx="4585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目录</a:t>
            </a:r>
            <a:r>
              <a:rPr lang="en-US" altLang="zh-CN" sz="4000" b="1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/content</a:t>
            </a:r>
            <a:endParaRPr lang="zh-CN" altLang="en-US" sz="4000" b="1" dirty="0">
              <a:solidFill>
                <a:schemeClr val="bg1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5360050-204D-4B6C-96C4-D16F5C59091F}"/>
              </a:ext>
            </a:extLst>
          </p:cNvPr>
          <p:cNvGrpSpPr/>
          <p:nvPr/>
        </p:nvGrpSpPr>
        <p:grpSpPr>
          <a:xfrm>
            <a:off x="1208660" y="2669734"/>
            <a:ext cx="3937060" cy="707886"/>
            <a:chOff x="963883" y="3231345"/>
            <a:chExt cx="3937060" cy="707886"/>
          </a:xfrm>
        </p:grpSpPr>
        <p:sp>
          <p:nvSpPr>
            <p:cNvPr id="7" name="箭头: V 形 6">
              <a:extLst>
                <a:ext uri="{FF2B5EF4-FFF2-40B4-BE49-F238E27FC236}">
                  <a16:creationId xmlns:a16="http://schemas.microsoft.com/office/drawing/2014/main" id="{FFEE7D1F-A3C7-4BCD-944A-BA030F019973}"/>
                </a:ext>
              </a:extLst>
            </p:cNvPr>
            <p:cNvSpPr/>
            <p:nvPr/>
          </p:nvSpPr>
          <p:spPr>
            <a:xfrm>
              <a:off x="963883" y="3429000"/>
              <a:ext cx="472611" cy="410547"/>
            </a:xfrm>
            <a:prstGeom prst="chevron">
              <a:avLst/>
            </a:prstGeom>
            <a:solidFill>
              <a:srgbClr val="1B8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1457E5C-8ED8-4519-A3DC-1D36B0FE56EA}"/>
                </a:ext>
              </a:extLst>
            </p:cNvPr>
            <p:cNvSpPr txBox="1"/>
            <p:nvPr/>
          </p:nvSpPr>
          <p:spPr>
            <a:xfrm>
              <a:off x="1693822" y="3231345"/>
              <a:ext cx="32071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1B828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 </a:t>
              </a:r>
              <a:endParaRPr lang="zh-CN" altLang="en-US" sz="4000" b="1" dirty="0">
                <a:solidFill>
                  <a:srgbClr val="1B828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F18BBA5-77BB-49E0-88A0-16413EAF563F}"/>
              </a:ext>
            </a:extLst>
          </p:cNvPr>
          <p:cNvGrpSpPr/>
          <p:nvPr/>
        </p:nvGrpSpPr>
        <p:grpSpPr>
          <a:xfrm>
            <a:off x="1208660" y="3580065"/>
            <a:ext cx="3937060" cy="707886"/>
            <a:chOff x="963883" y="3231345"/>
            <a:chExt cx="3937060" cy="707886"/>
          </a:xfrm>
        </p:grpSpPr>
        <p:sp>
          <p:nvSpPr>
            <p:cNvPr id="11" name="箭头: V 形 10">
              <a:extLst>
                <a:ext uri="{FF2B5EF4-FFF2-40B4-BE49-F238E27FC236}">
                  <a16:creationId xmlns:a16="http://schemas.microsoft.com/office/drawing/2014/main" id="{16511BD4-255B-4F51-9CE6-3F2A5745C678}"/>
                </a:ext>
              </a:extLst>
            </p:cNvPr>
            <p:cNvSpPr/>
            <p:nvPr/>
          </p:nvSpPr>
          <p:spPr>
            <a:xfrm>
              <a:off x="963883" y="3429000"/>
              <a:ext cx="472611" cy="410547"/>
            </a:xfrm>
            <a:prstGeom prst="chevron">
              <a:avLst/>
            </a:prstGeom>
            <a:solidFill>
              <a:srgbClr val="1B8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EF77C66-BF49-4689-8675-D3B8F322F225}"/>
                </a:ext>
              </a:extLst>
            </p:cNvPr>
            <p:cNvSpPr txBox="1"/>
            <p:nvPr/>
          </p:nvSpPr>
          <p:spPr>
            <a:xfrm>
              <a:off x="1693822" y="3231345"/>
              <a:ext cx="32071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4000" b="1" dirty="0">
                <a:solidFill>
                  <a:srgbClr val="1B828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2013F411-A486-4FD4-84A7-577C5FCDBDDB}"/>
              </a:ext>
            </a:extLst>
          </p:cNvPr>
          <p:cNvSpPr/>
          <p:nvPr/>
        </p:nvSpPr>
        <p:spPr>
          <a:xfrm>
            <a:off x="1260636" y="4624703"/>
            <a:ext cx="472611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箭头: V 形 20">
            <a:extLst>
              <a:ext uri="{FF2B5EF4-FFF2-40B4-BE49-F238E27FC236}">
                <a16:creationId xmlns:a16="http://schemas.microsoft.com/office/drawing/2014/main" id="{3C129858-3460-454F-9ED9-CF5B8D83F5C3}"/>
              </a:ext>
            </a:extLst>
          </p:cNvPr>
          <p:cNvSpPr/>
          <p:nvPr/>
        </p:nvSpPr>
        <p:spPr>
          <a:xfrm>
            <a:off x="1260635" y="5544068"/>
            <a:ext cx="472611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A89150-BFB3-4A5C-BFAA-D359CC42B812}"/>
              </a:ext>
            </a:extLst>
          </p:cNvPr>
          <p:cNvSpPr txBox="1"/>
          <p:nvPr/>
        </p:nvSpPr>
        <p:spPr>
          <a:xfrm>
            <a:off x="1820091" y="2867389"/>
            <a:ext cx="6305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为什么会产生分布式数据库系统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6DAA84-DA2F-4B07-936E-63C5CA6EB621}"/>
              </a:ext>
            </a:extLst>
          </p:cNvPr>
          <p:cNvSpPr txBox="1"/>
          <p:nvPr/>
        </p:nvSpPr>
        <p:spPr>
          <a:xfrm>
            <a:off x="1820091" y="3774955"/>
            <a:ext cx="390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什么是分布式数据库系统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5CCDBE3-6048-4529-88F4-76C47AEF25C5}"/>
              </a:ext>
            </a:extLst>
          </p:cNvPr>
          <p:cNvSpPr txBox="1"/>
          <p:nvPr/>
        </p:nvSpPr>
        <p:spPr>
          <a:xfrm>
            <a:off x="1820091" y="4682521"/>
            <a:ext cx="6305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大数据背景下，有哪些常用的分布式数据库系统？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A39D81-EC28-4683-9928-C1E0E9129805}"/>
              </a:ext>
            </a:extLst>
          </p:cNvPr>
          <p:cNvSpPr txBox="1"/>
          <p:nvPr/>
        </p:nvSpPr>
        <p:spPr>
          <a:xfrm>
            <a:off x="1820091" y="5590086"/>
            <a:ext cx="6305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分布式数据库系统的特点</a:t>
            </a:r>
            <a:r>
              <a:rPr lang="zh-CN" altLang="en-US" dirty="0"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与分析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36E72E-2378-4D00-99BF-6F069ED5D542}"/>
              </a:ext>
            </a:extLst>
          </p:cNvPr>
          <p:cNvSpPr txBox="1"/>
          <p:nvPr/>
        </p:nvSpPr>
        <p:spPr>
          <a:xfrm>
            <a:off x="1820091" y="2329155"/>
            <a:ext cx="3742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闵继勇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E4E909-F4F0-45E8-AD7B-0BEACB1DA6BC}"/>
              </a:ext>
            </a:extLst>
          </p:cNvPr>
          <p:cNvSpPr txBox="1"/>
          <p:nvPr/>
        </p:nvSpPr>
        <p:spPr>
          <a:xfrm>
            <a:off x="1820091" y="4216985"/>
            <a:ext cx="3742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朱在亮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19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 animBg="1"/>
      <p:bldP spid="21" grpId="0" animBg="1"/>
      <p:bldP spid="13" grpId="0"/>
      <p:bldP spid="15" grpId="0"/>
      <p:bldP spid="17" grpId="0"/>
      <p:bldP spid="19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4E0EAB-8681-4E3F-91C1-B50C1009C7CB}"/>
              </a:ext>
            </a:extLst>
          </p:cNvPr>
          <p:cNvSpPr/>
          <p:nvPr/>
        </p:nvSpPr>
        <p:spPr>
          <a:xfrm>
            <a:off x="0" y="519971"/>
            <a:ext cx="12192000" cy="1508053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7A9D0B-9BB6-482C-8701-85567258E811}"/>
              </a:ext>
            </a:extLst>
          </p:cNvPr>
          <p:cNvSpPr txBox="1"/>
          <p:nvPr/>
        </p:nvSpPr>
        <p:spPr>
          <a:xfrm>
            <a:off x="1004456" y="903385"/>
            <a:ext cx="4585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目录</a:t>
            </a:r>
            <a:r>
              <a:rPr lang="en-US" altLang="zh-CN" sz="4000" b="1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/content</a:t>
            </a:r>
            <a:endParaRPr lang="zh-CN" altLang="en-US" sz="4000" b="1" dirty="0">
              <a:solidFill>
                <a:schemeClr val="bg1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5360050-204D-4B6C-96C4-D16F5C59091F}"/>
              </a:ext>
            </a:extLst>
          </p:cNvPr>
          <p:cNvGrpSpPr/>
          <p:nvPr/>
        </p:nvGrpSpPr>
        <p:grpSpPr>
          <a:xfrm>
            <a:off x="1208660" y="2669734"/>
            <a:ext cx="3937060" cy="707886"/>
            <a:chOff x="963883" y="3231345"/>
            <a:chExt cx="3937060" cy="707886"/>
          </a:xfrm>
        </p:grpSpPr>
        <p:sp>
          <p:nvSpPr>
            <p:cNvPr id="7" name="箭头: V 形 6">
              <a:extLst>
                <a:ext uri="{FF2B5EF4-FFF2-40B4-BE49-F238E27FC236}">
                  <a16:creationId xmlns:a16="http://schemas.microsoft.com/office/drawing/2014/main" id="{FFEE7D1F-A3C7-4BCD-944A-BA030F019973}"/>
                </a:ext>
              </a:extLst>
            </p:cNvPr>
            <p:cNvSpPr/>
            <p:nvPr/>
          </p:nvSpPr>
          <p:spPr>
            <a:xfrm>
              <a:off x="963883" y="3429000"/>
              <a:ext cx="472611" cy="410547"/>
            </a:xfrm>
            <a:prstGeom prst="chevron">
              <a:avLst/>
            </a:prstGeom>
            <a:solidFill>
              <a:srgbClr val="1B8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1457E5C-8ED8-4519-A3DC-1D36B0FE56EA}"/>
                </a:ext>
              </a:extLst>
            </p:cNvPr>
            <p:cNvSpPr txBox="1"/>
            <p:nvPr/>
          </p:nvSpPr>
          <p:spPr>
            <a:xfrm>
              <a:off x="1693822" y="3231345"/>
              <a:ext cx="32071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1B828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 </a:t>
              </a:r>
              <a:endParaRPr lang="zh-CN" altLang="en-US" sz="4000" b="1" dirty="0">
                <a:solidFill>
                  <a:srgbClr val="1B828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F18BBA5-77BB-49E0-88A0-16413EAF563F}"/>
              </a:ext>
            </a:extLst>
          </p:cNvPr>
          <p:cNvGrpSpPr/>
          <p:nvPr/>
        </p:nvGrpSpPr>
        <p:grpSpPr>
          <a:xfrm>
            <a:off x="1208660" y="3535344"/>
            <a:ext cx="3937060" cy="707886"/>
            <a:chOff x="963883" y="3231345"/>
            <a:chExt cx="3937060" cy="707886"/>
          </a:xfrm>
        </p:grpSpPr>
        <p:sp>
          <p:nvSpPr>
            <p:cNvPr id="11" name="箭头: V 形 10">
              <a:extLst>
                <a:ext uri="{FF2B5EF4-FFF2-40B4-BE49-F238E27FC236}">
                  <a16:creationId xmlns:a16="http://schemas.microsoft.com/office/drawing/2014/main" id="{16511BD4-255B-4F51-9CE6-3F2A5745C678}"/>
                </a:ext>
              </a:extLst>
            </p:cNvPr>
            <p:cNvSpPr/>
            <p:nvPr/>
          </p:nvSpPr>
          <p:spPr>
            <a:xfrm>
              <a:off x="963883" y="3429000"/>
              <a:ext cx="472611" cy="410547"/>
            </a:xfrm>
            <a:prstGeom prst="chevron">
              <a:avLst/>
            </a:prstGeom>
            <a:solidFill>
              <a:srgbClr val="1B8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EF77C66-BF49-4689-8675-D3B8F322F225}"/>
                </a:ext>
              </a:extLst>
            </p:cNvPr>
            <p:cNvSpPr txBox="1"/>
            <p:nvPr/>
          </p:nvSpPr>
          <p:spPr>
            <a:xfrm>
              <a:off x="1693822" y="3231345"/>
              <a:ext cx="32071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4000" b="1" dirty="0">
                <a:solidFill>
                  <a:srgbClr val="1B828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2013F411-A486-4FD4-84A7-577C5FCDBDDB}"/>
              </a:ext>
            </a:extLst>
          </p:cNvPr>
          <p:cNvSpPr/>
          <p:nvPr/>
        </p:nvSpPr>
        <p:spPr>
          <a:xfrm>
            <a:off x="1260636" y="4624703"/>
            <a:ext cx="472611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箭头: V 形 20">
            <a:extLst>
              <a:ext uri="{FF2B5EF4-FFF2-40B4-BE49-F238E27FC236}">
                <a16:creationId xmlns:a16="http://schemas.microsoft.com/office/drawing/2014/main" id="{3C129858-3460-454F-9ED9-CF5B8D83F5C3}"/>
              </a:ext>
            </a:extLst>
          </p:cNvPr>
          <p:cNvSpPr/>
          <p:nvPr/>
        </p:nvSpPr>
        <p:spPr>
          <a:xfrm>
            <a:off x="1260635" y="5544068"/>
            <a:ext cx="472611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7C71BB-6BE5-4714-A0C8-5B752C933C67}"/>
              </a:ext>
            </a:extLst>
          </p:cNvPr>
          <p:cNvSpPr txBox="1"/>
          <p:nvPr/>
        </p:nvSpPr>
        <p:spPr>
          <a:xfrm>
            <a:off x="1938599" y="2909066"/>
            <a:ext cx="4279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分布式数据库系统的分类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7DFD7F-B8A6-4B63-8CE8-E7E4D696985D}"/>
              </a:ext>
            </a:extLst>
          </p:cNvPr>
          <p:cNvSpPr txBox="1"/>
          <p:nvPr/>
        </p:nvSpPr>
        <p:spPr>
          <a:xfrm>
            <a:off x="1938599" y="3790108"/>
            <a:ext cx="3730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分布式数据库系统的体系结构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08ED93-66FE-40F2-9411-BF438BD1726D}"/>
              </a:ext>
            </a:extLst>
          </p:cNvPr>
          <p:cNvSpPr txBox="1"/>
          <p:nvPr/>
        </p:nvSpPr>
        <p:spPr>
          <a:xfrm>
            <a:off x="1938599" y="4414204"/>
            <a:ext cx="6302188" cy="651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40000"/>
              </a:lnSpc>
              <a:spcBef>
                <a:spcPts val="1700"/>
              </a:spcBef>
              <a:spcAft>
                <a:spcPts val="1650"/>
              </a:spcAft>
            </a:pPr>
            <a:r>
              <a:rPr lang="zh-CN" altLang="en-US" dirty="0"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数据分片</a:t>
            </a:r>
            <a:endParaRPr lang="zh-CN" altLang="zh-CN" dirty="0">
              <a:latin typeface="等线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A86D42-F0E6-42A0-95F2-7E430B264E95}"/>
              </a:ext>
            </a:extLst>
          </p:cNvPr>
          <p:cNvSpPr txBox="1"/>
          <p:nvPr/>
        </p:nvSpPr>
        <p:spPr>
          <a:xfrm>
            <a:off x="1938599" y="5466508"/>
            <a:ext cx="6302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数据分布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2AE6AF-927B-483F-BC6E-13937E8EB870}"/>
              </a:ext>
            </a:extLst>
          </p:cNvPr>
          <p:cNvSpPr txBox="1"/>
          <p:nvPr/>
        </p:nvSpPr>
        <p:spPr>
          <a:xfrm>
            <a:off x="1681272" y="2352176"/>
            <a:ext cx="3742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王斌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A6B6F51-7D00-4F9A-8CA9-BC2317992775}"/>
              </a:ext>
            </a:extLst>
          </p:cNvPr>
          <p:cNvSpPr txBox="1"/>
          <p:nvPr/>
        </p:nvSpPr>
        <p:spPr>
          <a:xfrm>
            <a:off x="1681271" y="4199107"/>
            <a:ext cx="3742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雷承霖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57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 animBg="1"/>
      <p:bldP spid="21" grpId="0" animBg="1"/>
      <p:bldP spid="13" grpId="0"/>
      <p:bldP spid="15" grpId="0"/>
      <p:bldP spid="17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4E0EAB-8681-4E3F-91C1-B50C1009C7CB}"/>
              </a:ext>
            </a:extLst>
          </p:cNvPr>
          <p:cNvSpPr/>
          <p:nvPr/>
        </p:nvSpPr>
        <p:spPr>
          <a:xfrm>
            <a:off x="0" y="519971"/>
            <a:ext cx="12192000" cy="1508053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7A9D0B-9BB6-482C-8701-85567258E811}"/>
              </a:ext>
            </a:extLst>
          </p:cNvPr>
          <p:cNvSpPr txBox="1"/>
          <p:nvPr/>
        </p:nvSpPr>
        <p:spPr>
          <a:xfrm>
            <a:off x="1004456" y="903385"/>
            <a:ext cx="4585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目录</a:t>
            </a:r>
            <a:r>
              <a:rPr lang="en-US" altLang="zh-CN" sz="4000" b="1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/content</a:t>
            </a:r>
            <a:endParaRPr lang="zh-CN" altLang="en-US" sz="4000" b="1" dirty="0">
              <a:solidFill>
                <a:schemeClr val="bg1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5360050-204D-4B6C-96C4-D16F5C59091F}"/>
              </a:ext>
            </a:extLst>
          </p:cNvPr>
          <p:cNvGrpSpPr/>
          <p:nvPr/>
        </p:nvGrpSpPr>
        <p:grpSpPr>
          <a:xfrm>
            <a:off x="1208660" y="2669734"/>
            <a:ext cx="3937060" cy="707886"/>
            <a:chOff x="963883" y="3231345"/>
            <a:chExt cx="3937060" cy="707886"/>
          </a:xfrm>
        </p:grpSpPr>
        <p:sp>
          <p:nvSpPr>
            <p:cNvPr id="7" name="箭头: V 形 6">
              <a:extLst>
                <a:ext uri="{FF2B5EF4-FFF2-40B4-BE49-F238E27FC236}">
                  <a16:creationId xmlns:a16="http://schemas.microsoft.com/office/drawing/2014/main" id="{FFEE7D1F-A3C7-4BCD-944A-BA030F019973}"/>
                </a:ext>
              </a:extLst>
            </p:cNvPr>
            <p:cNvSpPr/>
            <p:nvPr/>
          </p:nvSpPr>
          <p:spPr>
            <a:xfrm>
              <a:off x="963883" y="3429000"/>
              <a:ext cx="472611" cy="410547"/>
            </a:xfrm>
            <a:prstGeom prst="chevron">
              <a:avLst/>
            </a:prstGeom>
            <a:solidFill>
              <a:srgbClr val="1B8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1457E5C-8ED8-4519-A3DC-1D36B0FE56EA}"/>
                </a:ext>
              </a:extLst>
            </p:cNvPr>
            <p:cNvSpPr txBox="1"/>
            <p:nvPr/>
          </p:nvSpPr>
          <p:spPr>
            <a:xfrm>
              <a:off x="1693822" y="3231345"/>
              <a:ext cx="32071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1B828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 </a:t>
              </a:r>
              <a:endParaRPr lang="zh-CN" altLang="en-US" sz="4000" b="1" dirty="0">
                <a:solidFill>
                  <a:srgbClr val="1B828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F18BBA5-77BB-49E0-88A0-16413EAF563F}"/>
              </a:ext>
            </a:extLst>
          </p:cNvPr>
          <p:cNvGrpSpPr/>
          <p:nvPr/>
        </p:nvGrpSpPr>
        <p:grpSpPr>
          <a:xfrm>
            <a:off x="1208660" y="4216985"/>
            <a:ext cx="3937060" cy="707886"/>
            <a:chOff x="963883" y="3231345"/>
            <a:chExt cx="3937060" cy="707886"/>
          </a:xfrm>
        </p:grpSpPr>
        <p:sp>
          <p:nvSpPr>
            <p:cNvPr id="11" name="箭头: V 形 10">
              <a:extLst>
                <a:ext uri="{FF2B5EF4-FFF2-40B4-BE49-F238E27FC236}">
                  <a16:creationId xmlns:a16="http://schemas.microsoft.com/office/drawing/2014/main" id="{16511BD4-255B-4F51-9CE6-3F2A5745C678}"/>
                </a:ext>
              </a:extLst>
            </p:cNvPr>
            <p:cNvSpPr/>
            <p:nvPr/>
          </p:nvSpPr>
          <p:spPr>
            <a:xfrm>
              <a:off x="963883" y="3429000"/>
              <a:ext cx="472611" cy="410547"/>
            </a:xfrm>
            <a:prstGeom prst="chevron">
              <a:avLst/>
            </a:prstGeom>
            <a:solidFill>
              <a:srgbClr val="1B8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EF77C66-BF49-4689-8675-D3B8F322F225}"/>
                </a:ext>
              </a:extLst>
            </p:cNvPr>
            <p:cNvSpPr txBox="1"/>
            <p:nvPr/>
          </p:nvSpPr>
          <p:spPr>
            <a:xfrm>
              <a:off x="1693822" y="3231345"/>
              <a:ext cx="32071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4000" b="1" dirty="0">
                <a:solidFill>
                  <a:srgbClr val="1B828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2B7029B3-ECD3-4D41-964F-360AF5211D63}"/>
              </a:ext>
            </a:extLst>
          </p:cNvPr>
          <p:cNvSpPr txBox="1"/>
          <p:nvPr/>
        </p:nvSpPr>
        <p:spPr>
          <a:xfrm>
            <a:off x="1938599" y="2641015"/>
            <a:ext cx="6302188" cy="651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40000"/>
              </a:lnSpc>
              <a:spcBef>
                <a:spcPts val="1700"/>
              </a:spcBef>
              <a:spcAft>
                <a:spcPts val="165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分布式数据库系统的查询优化问题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A1F557-C5E0-4EC0-9E27-21AAA88D13D8}"/>
              </a:ext>
            </a:extLst>
          </p:cNvPr>
          <p:cNvSpPr txBox="1"/>
          <p:nvPr/>
        </p:nvSpPr>
        <p:spPr>
          <a:xfrm>
            <a:off x="1847673" y="2226772"/>
            <a:ext cx="3742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黄春晓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58B58B-D5CE-4020-B6D8-63820F8DCCB0}"/>
              </a:ext>
            </a:extLst>
          </p:cNvPr>
          <p:cNvSpPr txBox="1"/>
          <p:nvPr/>
        </p:nvSpPr>
        <p:spPr>
          <a:xfrm>
            <a:off x="1938599" y="4097706"/>
            <a:ext cx="6302188" cy="651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40000"/>
              </a:lnSpc>
              <a:spcBef>
                <a:spcPts val="1700"/>
              </a:spcBef>
              <a:spcAft>
                <a:spcPts val="165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714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C31CB72-D5C3-447E-B114-A2CC56F6E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536" y="0"/>
            <a:ext cx="8138275" cy="574765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D5F7B3B-0026-487B-A1C3-637D6401DA73}"/>
              </a:ext>
            </a:extLst>
          </p:cNvPr>
          <p:cNvSpPr/>
          <p:nvPr/>
        </p:nvSpPr>
        <p:spPr>
          <a:xfrm>
            <a:off x="0" y="1524283"/>
            <a:ext cx="12192000" cy="1554819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EB7044-CE97-4E22-8134-2D2486C35593}"/>
              </a:ext>
            </a:extLst>
          </p:cNvPr>
          <p:cNvSpPr txBox="1"/>
          <p:nvPr/>
        </p:nvSpPr>
        <p:spPr>
          <a:xfrm>
            <a:off x="1236886" y="1797306"/>
            <a:ext cx="3468395" cy="1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Part 01</a:t>
            </a:r>
            <a:endParaRPr lang="zh-CN" altLang="en-US" sz="6000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4" name="箭头: V 形 13">
            <a:extLst>
              <a:ext uri="{FF2B5EF4-FFF2-40B4-BE49-F238E27FC236}">
                <a16:creationId xmlns:a16="http://schemas.microsoft.com/office/drawing/2014/main" id="{1B0C058D-54FE-4F0D-99E3-0ABEDC8412E1}"/>
              </a:ext>
            </a:extLst>
          </p:cNvPr>
          <p:cNvSpPr/>
          <p:nvPr/>
        </p:nvSpPr>
        <p:spPr>
          <a:xfrm rot="5400000">
            <a:off x="5912213" y="6023052"/>
            <a:ext cx="367574" cy="637310"/>
          </a:xfrm>
          <a:prstGeom prst="chevron">
            <a:avLst>
              <a:gd name="adj" fmla="val 70000"/>
            </a:avLst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91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请输入标题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4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C31CB72-D5C3-447E-B114-A2CC56F6E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536" y="0"/>
            <a:ext cx="8138275" cy="574765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D5F7B3B-0026-487B-A1C3-637D6401DA73}"/>
              </a:ext>
            </a:extLst>
          </p:cNvPr>
          <p:cNvSpPr/>
          <p:nvPr/>
        </p:nvSpPr>
        <p:spPr>
          <a:xfrm>
            <a:off x="0" y="1524283"/>
            <a:ext cx="12192000" cy="1554819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EB7044-CE97-4E22-8134-2D2486C35593}"/>
              </a:ext>
            </a:extLst>
          </p:cNvPr>
          <p:cNvSpPr txBox="1"/>
          <p:nvPr/>
        </p:nvSpPr>
        <p:spPr>
          <a:xfrm>
            <a:off x="1236886" y="1797306"/>
            <a:ext cx="3468395" cy="1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Part 02</a:t>
            </a:r>
            <a:endParaRPr lang="zh-CN" altLang="en-US" sz="6000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4" name="箭头: V 形 13">
            <a:extLst>
              <a:ext uri="{FF2B5EF4-FFF2-40B4-BE49-F238E27FC236}">
                <a16:creationId xmlns:a16="http://schemas.microsoft.com/office/drawing/2014/main" id="{1B0C058D-54FE-4F0D-99E3-0ABEDC8412E1}"/>
              </a:ext>
            </a:extLst>
          </p:cNvPr>
          <p:cNvSpPr/>
          <p:nvPr/>
        </p:nvSpPr>
        <p:spPr>
          <a:xfrm rot="5400000">
            <a:off x="5912213" y="6023052"/>
            <a:ext cx="367574" cy="637310"/>
          </a:xfrm>
          <a:prstGeom prst="chevron">
            <a:avLst>
              <a:gd name="adj" fmla="val 70000"/>
            </a:avLst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64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请输入标题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81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C31CB72-D5C3-447E-B114-A2CC56F6E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536" y="0"/>
            <a:ext cx="8138275" cy="574765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D5F7B3B-0026-487B-A1C3-637D6401DA73}"/>
              </a:ext>
            </a:extLst>
          </p:cNvPr>
          <p:cNvSpPr/>
          <p:nvPr/>
        </p:nvSpPr>
        <p:spPr>
          <a:xfrm>
            <a:off x="0" y="1524283"/>
            <a:ext cx="12192000" cy="1554819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EB7044-CE97-4E22-8134-2D2486C35593}"/>
              </a:ext>
            </a:extLst>
          </p:cNvPr>
          <p:cNvSpPr txBox="1"/>
          <p:nvPr/>
        </p:nvSpPr>
        <p:spPr>
          <a:xfrm>
            <a:off x="1236886" y="1797306"/>
            <a:ext cx="3468395" cy="1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Part 03</a:t>
            </a:r>
            <a:endParaRPr lang="zh-CN" altLang="en-US" sz="6000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4" name="箭头: V 形 13">
            <a:extLst>
              <a:ext uri="{FF2B5EF4-FFF2-40B4-BE49-F238E27FC236}">
                <a16:creationId xmlns:a16="http://schemas.microsoft.com/office/drawing/2014/main" id="{1B0C058D-54FE-4F0D-99E3-0ABEDC8412E1}"/>
              </a:ext>
            </a:extLst>
          </p:cNvPr>
          <p:cNvSpPr/>
          <p:nvPr/>
        </p:nvSpPr>
        <p:spPr>
          <a:xfrm rot="5400000">
            <a:off x="5912213" y="6023052"/>
            <a:ext cx="367574" cy="637310"/>
          </a:xfrm>
          <a:prstGeom prst="chevron">
            <a:avLst>
              <a:gd name="adj" fmla="val 70000"/>
            </a:avLst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34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请输入标题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94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C31CB72-D5C3-447E-B114-A2CC56F6E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536" y="0"/>
            <a:ext cx="8138275" cy="574765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D5F7B3B-0026-487B-A1C3-637D6401DA73}"/>
              </a:ext>
            </a:extLst>
          </p:cNvPr>
          <p:cNvSpPr/>
          <p:nvPr/>
        </p:nvSpPr>
        <p:spPr>
          <a:xfrm>
            <a:off x="-16009" y="1524282"/>
            <a:ext cx="12192000" cy="1554819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EB7044-CE97-4E22-8134-2D2486C35593}"/>
              </a:ext>
            </a:extLst>
          </p:cNvPr>
          <p:cNvSpPr txBox="1"/>
          <p:nvPr/>
        </p:nvSpPr>
        <p:spPr>
          <a:xfrm>
            <a:off x="1236886" y="1797306"/>
            <a:ext cx="3468395" cy="1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Part 04</a:t>
            </a:r>
            <a:endParaRPr lang="zh-CN" altLang="en-US" sz="6000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4" name="箭头: V 形 13">
            <a:extLst>
              <a:ext uri="{FF2B5EF4-FFF2-40B4-BE49-F238E27FC236}">
                <a16:creationId xmlns:a16="http://schemas.microsoft.com/office/drawing/2014/main" id="{1B0C058D-54FE-4F0D-99E3-0ABEDC8412E1}"/>
              </a:ext>
            </a:extLst>
          </p:cNvPr>
          <p:cNvSpPr/>
          <p:nvPr/>
        </p:nvSpPr>
        <p:spPr>
          <a:xfrm rot="5400000">
            <a:off x="5912213" y="6023052"/>
            <a:ext cx="367574" cy="637310"/>
          </a:xfrm>
          <a:prstGeom prst="chevron">
            <a:avLst>
              <a:gd name="adj" fmla="val 70000"/>
            </a:avLst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A824EA-D176-418E-BAAA-5B2D4721FC30}"/>
              </a:ext>
            </a:extLst>
          </p:cNvPr>
          <p:cNvSpPr txBox="1"/>
          <p:nvPr/>
        </p:nvSpPr>
        <p:spPr>
          <a:xfrm>
            <a:off x="1236886" y="3639141"/>
            <a:ext cx="6302188" cy="83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40000"/>
              </a:lnSpc>
              <a:spcBef>
                <a:spcPts val="170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数据分片</a:t>
            </a:r>
            <a:endParaRPr lang="zh-CN" altLang="zh-CN" sz="2400" dirty="0">
              <a:latin typeface="等线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8F1F86-F113-4BAD-82A0-46E3920DEFA9}"/>
              </a:ext>
            </a:extLst>
          </p:cNvPr>
          <p:cNvSpPr txBox="1"/>
          <p:nvPr/>
        </p:nvSpPr>
        <p:spPr>
          <a:xfrm>
            <a:off x="1236886" y="5102885"/>
            <a:ext cx="6302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数据分布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2068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数据分片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51767C-5FD6-420B-B1EE-4D452316935E}"/>
              </a:ext>
            </a:extLst>
          </p:cNvPr>
          <p:cNvSpPr txBox="1"/>
          <p:nvPr/>
        </p:nvSpPr>
        <p:spPr>
          <a:xfrm>
            <a:off x="1288869" y="1402746"/>
            <a:ext cx="322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狭义上： 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数据的切分方式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8F6E42-1443-4776-A8B3-57F9561FC053}"/>
              </a:ext>
            </a:extLst>
          </p:cNvPr>
          <p:cNvSpPr txBox="1"/>
          <p:nvPr/>
        </p:nvSpPr>
        <p:spPr>
          <a:xfrm>
            <a:off x="1288869" y="19032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广义上： 计算分片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4C0FF7-6B77-409F-BC4D-0702F0A7285D}"/>
              </a:ext>
            </a:extLst>
          </p:cNvPr>
          <p:cNvSpPr txBox="1"/>
          <p:nvPr/>
        </p:nvSpPr>
        <p:spPr>
          <a:xfrm>
            <a:off x="1288869" y="25846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数据分片的形式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9CD5D09-61DB-442F-8FEF-8E2DAE5D9D37}"/>
              </a:ext>
            </a:extLst>
          </p:cNvPr>
          <p:cNvSpPr txBox="1"/>
          <p:nvPr/>
        </p:nvSpPr>
        <p:spPr>
          <a:xfrm>
            <a:off x="1288869" y="31594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一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水平分片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28D9CE-3FBD-4867-996E-DE1206DCD91A}"/>
              </a:ext>
            </a:extLst>
          </p:cNvPr>
          <p:cNvSpPr txBox="1"/>
          <p:nvPr/>
        </p:nvSpPr>
        <p:spPr>
          <a:xfrm>
            <a:off x="1302382" y="37428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二、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垂直分片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4014E4-5A51-4317-AD23-9EC7BCA7B7A9}"/>
              </a:ext>
            </a:extLst>
          </p:cNvPr>
          <p:cNvSpPr txBox="1"/>
          <p:nvPr/>
        </p:nvSpPr>
        <p:spPr>
          <a:xfrm>
            <a:off x="1288869" y="4326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三、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混合分片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FE9404-7808-4D54-AEAF-4BE79427CE37}"/>
              </a:ext>
            </a:extLst>
          </p:cNvPr>
          <p:cNvSpPr txBox="1"/>
          <p:nvPr/>
        </p:nvSpPr>
        <p:spPr>
          <a:xfrm>
            <a:off x="1125367" y="5243911"/>
            <a:ext cx="33160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FF0000"/>
                </a:solidFill>
                <a:effectLst/>
                <a:latin typeface="-apple-system"/>
              </a:rPr>
              <a:t>分片的实质：用不同的方法把表格划分成更小的表格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3C70717-A544-436B-A022-7EA368830D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14"/>
          <a:stretch/>
        </p:blipFill>
        <p:spPr>
          <a:xfrm>
            <a:off x="6096000" y="973981"/>
            <a:ext cx="4704762" cy="57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4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数据分片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EA345E-6453-4D19-9B57-00C0F407D8A5}"/>
              </a:ext>
            </a:extLst>
          </p:cNvPr>
          <p:cNvSpPr txBox="1"/>
          <p:nvPr/>
        </p:nvSpPr>
        <p:spPr>
          <a:xfrm>
            <a:off x="1212980" y="9716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一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水平分片</a:t>
            </a:r>
            <a:r>
              <a:rPr lang="en-US" altLang="zh-CN" b="1" dirty="0">
                <a:solidFill>
                  <a:srgbClr val="4D4D4D"/>
                </a:solidFill>
                <a:latin typeface="-apple-system"/>
              </a:rPr>
              <a:t>: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按行来切分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FF39B1-7910-4335-B4D0-65CB410E5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333" y="2173467"/>
            <a:ext cx="8133333" cy="2914286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887DE8F-39FA-4DB5-BF4F-804533FEB143}"/>
              </a:ext>
            </a:extLst>
          </p:cNvPr>
          <p:cNvCxnSpPr>
            <a:cxnSpLocks/>
          </p:cNvCxnSpPr>
          <p:nvPr/>
        </p:nvCxnSpPr>
        <p:spPr>
          <a:xfrm>
            <a:off x="957942" y="3494314"/>
            <a:ext cx="1017161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1A9F50-2E13-4ED8-A549-A4E1035F011B}"/>
              </a:ext>
            </a:extLst>
          </p:cNvPr>
          <p:cNvCxnSpPr>
            <a:cxnSpLocks/>
          </p:cNvCxnSpPr>
          <p:nvPr/>
        </p:nvCxnSpPr>
        <p:spPr>
          <a:xfrm>
            <a:off x="1010194" y="4281196"/>
            <a:ext cx="1017161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48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数据分片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EA345E-6453-4D19-9B57-00C0F407D8A5}"/>
              </a:ext>
            </a:extLst>
          </p:cNvPr>
          <p:cNvSpPr txBox="1"/>
          <p:nvPr/>
        </p:nvSpPr>
        <p:spPr>
          <a:xfrm>
            <a:off x="1212980" y="9716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一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水平分片</a:t>
            </a:r>
            <a:r>
              <a:rPr lang="en-US" altLang="zh-CN" b="1" dirty="0">
                <a:solidFill>
                  <a:srgbClr val="4D4D4D"/>
                </a:solidFill>
                <a:latin typeface="-apple-system"/>
              </a:rPr>
              <a:t>: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按行来切分</a:t>
            </a: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5472207-21F0-4F59-8A01-D4947D757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762" y="1400428"/>
            <a:ext cx="9190476" cy="4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4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数据分片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EA345E-6453-4D19-9B57-00C0F407D8A5}"/>
              </a:ext>
            </a:extLst>
          </p:cNvPr>
          <p:cNvSpPr txBox="1"/>
          <p:nvPr/>
        </p:nvSpPr>
        <p:spPr>
          <a:xfrm>
            <a:off x="1212980" y="1424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二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垂直分片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8936B94-BB84-4E8A-9E87-FD184FDBC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333" y="2173467"/>
            <a:ext cx="8133333" cy="2914286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F9D1321-49FE-43AC-96BB-BE908B5B7470}"/>
              </a:ext>
            </a:extLst>
          </p:cNvPr>
          <p:cNvCxnSpPr>
            <a:cxnSpLocks/>
          </p:cNvCxnSpPr>
          <p:nvPr/>
        </p:nvCxnSpPr>
        <p:spPr>
          <a:xfrm>
            <a:off x="3013788" y="1793862"/>
            <a:ext cx="0" cy="388848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06D05DA-AECA-4A79-B8C1-3B52A692C404}"/>
              </a:ext>
            </a:extLst>
          </p:cNvPr>
          <p:cNvCxnSpPr>
            <a:cxnSpLocks/>
          </p:cNvCxnSpPr>
          <p:nvPr/>
        </p:nvCxnSpPr>
        <p:spPr>
          <a:xfrm>
            <a:off x="4005943" y="1793862"/>
            <a:ext cx="0" cy="388848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C9E283C-6404-4A02-95D4-738B0B7C47B5}"/>
              </a:ext>
            </a:extLst>
          </p:cNvPr>
          <p:cNvCxnSpPr>
            <a:cxnSpLocks/>
          </p:cNvCxnSpPr>
          <p:nvPr/>
        </p:nvCxnSpPr>
        <p:spPr>
          <a:xfrm>
            <a:off x="5162939" y="1793862"/>
            <a:ext cx="0" cy="388848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52343B-B2F1-4774-BC16-78D1411F95F8}"/>
              </a:ext>
            </a:extLst>
          </p:cNvPr>
          <p:cNvCxnSpPr>
            <a:cxnSpLocks/>
          </p:cNvCxnSpPr>
          <p:nvPr/>
        </p:nvCxnSpPr>
        <p:spPr>
          <a:xfrm>
            <a:off x="6627845" y="1793862"/>
            <a:ext cx="0" cy="388848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D3EA636-B5E6-4F2D-A612-D29CEB11E1A8}"/>
              </a:ext>
            </a:extLst>
          </p:cNvPr>
          <p:cNvCxnSpPr>
            <a:cxnSpLocks/>
          </p:cNvCxnSpPr>
          <p:nvPr/>
        </p:nvCxnSpPr>
        <p:spPr>
          <a:xfrm>
            <a:off x="8167396" y="1793862"/>
            <a:ext cx="0" cy="388848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56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数据分片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EA345E-6453-4D19-9B57-00C0F407D8A5}"/>
              </a:ext>
            </a:extLst>
          </p:cNvPr>
          <p:cNvSpPr txBox="1"/>
          <p:nvPr/>
        </p:nvSpPr>
        <p:spPr>
          <a:xfrm>
            <a:off x="1212980" y="1424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二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垂直分片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962EA65-DBDA-45A5-B6B2-4F7E25581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95" y="2995645"/>
            <a:ext cx="2057143" cy="28952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B0C5855-FC72-434C-B259-15ED40421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932" y="2053333"/>
            <a:ext cx="3238095" cy="31714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519FAC9-B8F8-44E1-9EED-7B7AE7F2E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8567" y="3123007"/>
            <a:ext cx="3209524" cy="289523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3CE2883-1C0B-4989-87FB-6B6CA3BE9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8091" y="1905190"/>
            <a:ext cx="3057143" cy="3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4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数据分片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EA345E-6453-4D19-9B57-00C0F407D8A5}"/>
              </a:ext>
            </a:extLst>
          </p:cNvPr>
          <p:cNvSpPr txBox="1"/>
          <p:nvPr/>
        </p:nvSpPr>
        <p:spPr>
          <a:xfrm>
            <a:off x="1212980" y="1424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三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混合分片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9F0C0D-2A26-43C8-8B4D-F58F5B593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333" y="2173467"/>
            <a:ext cx="8133333" cy="2914286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769D377-2DF0-4ED8-9FFF-4A5BBA2B3BCE}"/>
              </a:ext>
            </a:extLst>
          </p:cNvPr>
          <p:cNvCxnSpPr/>
          <p:nvPr/>
        </p:nvCxnSpPr>
        <p:spPr>
          <a:xfrm>
            <a:off x="1216711" y="3442996"/>
            <a:ext cx="9758577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16DCF23-ED4E-4453-9CCE-3D3204D56FA9}"/>
              </a:ext>
            </a:extLst>
          </p:cNvPr>
          <p:cNvCxnSpPr/>
          <p:nvPr/>
        </p:nvCxnSpPr>
        <p:spPr>
          <a:xfrm>
            <a:off x="1212980" y="4295192"/>
            <a:ext cx="9758577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D3F6D03-CF21-4F78-A0C6-D8EEEA5C7E3B}"/>
              </a:ext>
            </a:extLst>
          </p:cNvPr>
          <p:cNvCxnSpPr/>
          <p:nvPr/>
        </p:nvCxnSpPr>
        <p:spPr>
          <a:xfrm>
            <a:off x="3984171" y="1884784"/>
            <a:ext cx="0" cy="3984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009D13D-294F-41D6-A39A-9BE1C4638C8A}"/>
              </a:ext>
            </a:extLst>
          </p:cNvPr>
          <p:cNvCxnSpPr/>
          <p:nvPr/>
        </p:nvCxnSpPr>
        <p:spPr>
          <a:xfrm>
            <a:off x="8167396" y="1981201"/>
            <a:ext cx="0" cy="3984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6ED6144-F91F-4848-BECD-96D71251FA71}"/>
              </a:ext>
            </a:extLst>
          </p:cNvPr>
          <p:cNvCxnSpPr/>
          <p:nvPr/>
        </p:nvCxnSpPr>
        <p:spPr>
          <a:xfrm>
            <a:off x="6637175" y="1981201"/>
            <a:ext cx="0" cy="3984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CFDE6A2-BABE-497E-9AA9-080D07E0B45A}"/>
              </a:ext>
            </a:extLst>
          </p:cNvPr>
          <p:cNvCxnSpPr/>
          <p:nvPr/>
        </p:nvCxnSpPr>
        <p:spPr>
          <a:xfrm>
            <a:off x="5181600" y="1981201"/>
            <a:ext cx="0" cy="3984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92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数据分片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EA345E-6453-4D19-9B57-00C0F407D8A5}"/>
              </a:ext>
            </a:extLst>
          </p:cNvPr>
          <p:cNvSpPr txBox="1"/>
          <p:nvPr/>
        </p:nvSpPr>
        <p:spPr>
          <a:xfrm>
            <a:off x="1212980" y="1424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三</a:t>
            </a:r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混合分片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82929AA-CBAE-4342-973F-54DB9A3A1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90" y="3633358"/>
            <a:ext cx="3038095" cy="112381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F84D4FF-E0D4-4423-9BDB-37483CE48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190" y="1957167"/>
            <a:ext cx="3066667" cy="112381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CDB4745-1E99-4CD8-8274-41A349A9F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1714" y="5178490"/>
            <a:ext cx="3057143" cy="1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0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数据分片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EA345E-6453-4D19-9B57-00C0F407D8A5}"/>
              </a:ext>
            </a:extLst>
          </p:cNvPr>
          <p:cNvSpPr txBox="1"/>
          <p:nvPr/>
        </p:nvSpPr>
        <p:spPr>
          <a:xfrm>
            <a:off x="603378" y="1424529"/>
            <a:ext cx="1051746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rgbClr val="4D4D4D"/>
                </a:solidFill>
                <a:effectLst/>
                <a:latin typeface="-apple-system"/>
              </a:rPr>
              <a:t>分片原则：</a:t>
            </a:r>
            <a:endParaRPr lang="en-US" altLang="zh-CN" sz="2800" b="1" i="0" dirty="0">
              <a:solidFill>
                <a:srgbClr val="4D4D4D"/>
              </a:solidFill>
              <a:effectLst/>
              <a:latin typeface="-apple-system"/>
            </a:endParaRPr>
          </a:p>
          <a:p>
            <a:r>
              <a:rPr lang="en-US" altLang="zh-CN" sz="2800" b="1" dirty="0">
                <a:solidFill>
                  <a:srgbClr val="4D4D4D"/>
                </a:solidFill>
                <a:latin typeface="-apple-system"/>
              </a:rPr>
              <a:t>1</a:t>
            </a:r>
            <a:r>
              <a:rPr lang="zh-CN" altLang="en-US" sz="2800" b="1" dirty="0">
                <a:solidFill>
                  <a:srgbClr val="4D4D4D"/>
                </a:solidFill>
                <a:latin typeface="-apple-system"/>
              </a:rPr>
              <a:t> 完备性原则：必须切分完，不能留一部分</a:t>
            </a:r>
            <a:endParaRPr lang="en-US" altLang="zh-CN" sz="2800" b="1" dirty="0">
              <a:solidFill>
                <a:srgbClr val="4D4D4D"/>
              </a:solidFill>
              <a:latin typeface="-apple-system"/>
            </a:endParaRPr>
          </a:p>
          <a:p>
            <a:endParaRPr lang="en-US" altLang="zh-CN" sz="2800" b="1" dirty="0">
              <a:solidFill>
                <a:srgbClr val="4D4D4D"/>
              </a:solidFill>
              <a:latin typeface="-apple-system"/>
            </a:endParaRPr>
          </a:p>
          <a:p>
            <a:r>
              <a:rPr lang="en-US" altLang="zh-CN" sz="2800" b="1" dirty="0">
                <a:solidFill>
                  <a:srgbClr val="4D4D4D"/>
                </a:solidFill>
                <a:latin typeface="-apple-system"/>
              </a:rPr>
              <a:t>2 </a:t>
            </a:r>
            <a:r>
              <a:rPr lang="zh-CN" altLang="en-US" sz="2800" b="1" dirty="0">
                <a:solidFill>
                  <a:srgbClr val="4D4D4D"/>
                </a:solidFill>
                <a:latin typeface="-apple-system"/>
              </a:rPr>
              <a:t>可重构原则：整体</a:t>
            </a:r>
            <a:r>
              <a:rPr lang="en-US" altLang="zh-CN" sz="2800" b="1" dirty="0">
                <a:solidFill>
                  <a:srgbClr val="4D4D4D"/>
                </a:solidFill>
                <a:latin typeface="-apple-system"/>
              </a:rPr>
              <a:t>=</a:t>
            </a:r>
            <a:r>
              <a:rPr lang="zh-CN" altLang="en-US" sz="2800" b="1" dirty="0">
                <a:solidFill>
                  <a:srgbClr val="4D4D4D"/>
                </a:solidFill>
                <a:latin typeface="-apple-system"/>
              </a:rPr>
              <a:t>部分之和，部分之和</a:t>
            </a:r>
            <a:r>
              <a:rPr lang="en-US" altLang="zh-CN" sz="2800" b="1" dirty="0">
                <a:solidFill>
                  <a:srgbClr val="4D4D4D"/>
                </a:solidFill>
                <a:latin typeface="-apple-system"/>
              </a:rPr>
              <a:t>=</a:t>
            </a:r>
            <a:r>
              <a:rPr lang="zh-CN" altLang="en-US" sz="2800" b="1" dirty="0">
                <a:solidFill>
                  <a:srgbClr val="4D4D4D"/>
                </a:solidFill>
                <a:latin typeface="-apple-system"/>
              </a:rPr>
              <a:t>整体</a:t>
            </a:r>
            <a:endParaRPr lang="en-US" altLang="zh-CN" sz="2800" b="1" dirty="0">
              <a:solidFill>
                <a:srgbClr val="4D4D4D"/>
              </a:solidFill>
              <a:latin typeface="-apple-system"/>
            </a:endParaRPr>
          </a:p>
          <a:p>
            <a:endParaRPr lang="en-US" altLang="zh-CN" sz="2800" b="1" dirty="0">
              <a:solidFill>
                <a:srgbClr val="4D4D4D"/>
              </a:solidFill>
              <a:latin typeface="-apple-system"/>
            </a:endParaRPr>
          </a:p>
          <a:p>
            <a:r>
              <a:rPr lang="en-US" altLang="zh-CN" sz="2800" b="1" dirty="0">
                <a:solidFill>
                  <a:srgbClr val="4D4D4D"/>
                </a:solidFill>
                <a:latin typeface="-apple-system"/>
              </a:rPr>
              <a:t>3 </a:t>
            </a:r>
            <a:r>
              <a:rPr lang="zh-CN" altLang="en-US" sz="2800" b="1" dirty="0">
                <a:solidFill>
                  <a:srgbClr val="4D4D4D"/>
                </a:solidFill>
                <a:latin typeface="-apple-system"/>
              </a:rPr>
              <a:t>不相交原则：不能出现重复的数据（垂直分割时主键列可以重复）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0699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分片规则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E2506C-E009-4CC0-8E1A-2D374BC1A4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4" t="3780"/>
          <a:stretch/>
        </p:blipFill>
        <p:spPr>
          <a:xfrm>
            <a:off x="957942" y="3670601"/>
            <a:ext cx="8109890" cy="293241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EF33E63-0BC8-45C7-AABC-5CA0193C5AAA}"/>
              </a:ext>
            </a:extLst>
          </p:cNvPr>
          <p:cNvSpPr txBox="1"/>
          <p:nvPr/>
        </p:nvSpPr>
        <p:spPr>
          <a:xfrm>
            <a:off x="1439316" y="2082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基于哈希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/</a:t>
            </a:r>
            <a:r>
              <a:rPr lang="zh-CN" altLang="en-US" sz="1800" dirty="0">
                <a:solidFill>
                  <a:srgbClr val="121212"/>
                </a:solidFill>
                <a:latin typeface="-apple-system"/>
              </a:rPr>
              <a:t>一致性</a:t>
            </a:r>
            <a:r>
              <a:rPr lang="en-US" altLang="zh-CN" sz="1800" dirty="0">
                <a:solidFill>
                  <a:srgbClr val="121212"/>
                </a:solidFill>
                <a:latin typeface="-apple-system"/>
              </a:rPr>
              <a:t>Hash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的分片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DD3EFA-15D9-4EFC-95BF-CD5F79239CB2}"/>
              </a:ext>
            </a:extLst>
          </p:cNvPr>
          <p:cNvSpPr txBox="1"/>
          <p:nvPr/>
        </p:nvSpPr>
        <p:spPr>
          <a:xfrm>
            <a:off x="1439316" y="12686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i="0" dirty="0">
                <a:solidFill>
                  <a:srgbClr val="121212"/>
                </a:solidFill>
                <a:effectLst/>
                <a:latin typeface="-apple-system"/>
              </a:rPr>
              <a:t>基于范围的分片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31A61B-44FC-4B73-852A-BEC8FCFE1E51}"/>
              </a:ext>
            </a:extLst>
          </p:cNvPr>
          <p:cNvSpPr txBox="1"/>
          <p:nvPr/>
        </p:nvSpPr>
        <p:spPr>
          <a:xfrm>
            <a:off x="1439316" y="28959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i="0" dirty="0">
                <a:solidFill>
                  <a:srgbClr val="121212"/>
                </a:solidFill>
                <a:effectLst/>
                <a:latin typeface="-apple-system"/>
              </a:rPr>
              <a:t>基于目录的分片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C5E15DB-200F-4CA2-A58B-8D85A015C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003" y="664899"/>
            <a:ext cx="2447619" cy="4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6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分片规则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93FCC0-00A8-452C-8E9E-0E799FF3DD5A}"/>
              </a:ext>
            </a:extLst>
          </p:cNvPr>
          <p:cNvSpPr txBox="1"/>
          <p:nvPr/>
        </p:nvSpPr>
        <p:spPr>
          <a:xfrm>
            <a:off x="668693" y="103350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000" i="0" dirty="0">
                <a:solidFill>
                  <a:srgbClr val="121212"/>
                </a:solidFill>
                <a:effectLst/>
                <a:latin typeface="-apple-system"/>
              </a:rPr>
              <a:t>基于范围的分片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DFD12F-1BA7-443C-85FD-C9D86C9B00D8}"/>
              </a:ext>
            </a:extLst>
          </p:cNvPr>
          <p:cNvSpPr txBox="1"/>
          <p:nvPr/>
        </p:nvSpPr>
        <p:spPr>
          <a:xfrm>
            <a:off x="780660" y="153021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根据关键字的范围，例如</a:t>
            </a:r>
            <a:r>
              <a:rPr lang="en-US" altLang="zh-CN" sz="2000" dirty="0">
                <a:solidFill>
                  <a:srgbClr val="121212"/>
                </a:solidFill>
                <a:latin typeface="-apple-system"/>
              </a:rPr>
              <a:t>id</a:t>
            </a: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大小、价格、地区、年龄等因素</a:t>
            </a:r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  <a:p>
            <a:pPr algn="l"/>
            <a:r>
              <a:rPr lang="zh-CN" altLang="en-US" sz="2000" i="0" dirty="0">
                <a:solidFill>
                  <a:srgbClr val="121212"/>
                </a:solidFill>
                <a:effectLst/>
                <a:latin typeface="-apple-system"/>
              </a:rPr>
              <a:t>在本例中，划分为</a:t>
            </a:r>
            <a:r>
              <a:rPr lang="en-US" altLang="zh-CN" sz="2000" i="0" dirty="0">
                <a:solidFill>
                  <a:srgbClr val="121212"/>
                </a:solidFill>
                <a:effectLst/>
                <a:latin typeface="-apple-system"/>
              </a:rPr>
              <a:t>1-3</a:t>
            </a:r>
            <a:r>
              <a:rPr lang="zh-CN" altLang="en-US" sz="2000" i="0" dirty="0">
                <a:solidFill>
                  <a:srgbClr val="121212"/>
                </a:solidFill>
                <a:effectLst/>
                <a:latin typeface="-apple-system"/>
              </a:rPr>
              <a:t>，</a:t>
            </a:r>
            <a:r>
              <a:rPr lang="en-US" altLang="zh-CN" sz="2000" i="0" dirty="0">
                <a:solidFill>
                  <a:srgbClr val="121212"/>
                </a:solidFill>
                <a:effectLst/>
                <a:latin typeface="-apple-system"/>
              </a:rPr>
              <a:t>4-6</a:t>
            </a:r>
            <a:r>
              <a:rPr lang="zh-CN" altLang="en-US" sz="2000" i="0" dirty="0">
                <a:solidFill>
                  <a:srgbClr val="121212"/>
                </a:solidFill>
                <a:effectLst/>
                <a:latin typeface="-apple-system"/>
              </a:rPr>
              <a:t>，</a:t>
            </a:r>
            <a:r>
              <a:rPr lang="en-US" altLang="zh-CN" sz="2000" i="0" dirty="0">
                <a:solidFill>
                  <a:srgbClr val="121212"/>
                </a:solidFill>
                <a:effectLst/>
                <a:latin typeface="-apple-system"/>
              </a:rPr>
              <a:t>7-9</a:t>
            </a:r>
            <a:r>
              <a:rPr lang="zh-CN" altLang="en-US" sz="2000" i="0" dirty="0">
                <a:solidFill>
                  <a:srgbClr val="121212"/>
                </a:solidFill>
                <a:effectLst/>
                <a:latin typeface="-apple-system"/>
              </a:rPr>
              <a:t>三个分片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E0E285D-9083-4B1F-A8EF-16DFFA0D7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60" y="2545877"/>
            <a:ext cx="9190476" cy="405714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F49A7CE-58A7-4955-BBA9-1F39973CDE94}"/>
              </a:ext>
            </a:extLst>
          </p:cNvPr>
          <p:cNvSpPr txBox="1"/>
          <p:nvPr/>
        </p:nvSpPr>
        <p:spPr>
          <a:xfrm>
            <a:off x="7603826" y="1184985"/>
            <a:ext cx="45881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优点：操作方便</a:t>
            </a:r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  <a:p>
            <a:pPr algn="l"/>
            <a:r>
              <a:rPr lang="zh-CN" altLang="en-US" sz="2000" i="0" dirty="0">
                <a:solidFill>
                  <a:srgbClr val="121212"/>
                </a:solidFill>
                <a:effectLst/>
                <a:latin typeface="-apple-system"/>
              </a:rPr>
              <a:t>缺点：不能负载均衡</a:t>
            </a:r>
            <a:endParaRPr lang="en-US" altLang="zh-CN" sz="2000" i="0" dirty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例如在本例中，后注册的用户可能更加活跃</a:t>
            </a:r>
            <a:endParaRPr lang="zh-CN" altLang="en-US" sz="2000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96239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分片规则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93FCC0-00A8-452C-8E9E-0E799FF3DD5A}"/>
              </a:ext>
            </a:extLst>
          </p:cNvPr>
          <p:cNvSpPr txBox="1"/>
          <p:nvPr/>
        </p:nvSpPr>
        <p:spPr>
          <a:xfrm>
            <a:off x="668693" y="103350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121212"/>
                </a:solidFill>
                <a:effectLst/>
                <a:latin typeface="-apple-system"/>
              </a:rPr>
              <a:t>基于哈希的分片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49A7CE-58A7-4955-BBA9-1F39973CDE94}"/>
              </a:ext>
            </a:extLst>
          </p:cNvPr>
          <p:cNvSpPr txBox="1"/>
          <p:nvPr/>
        </p:nvSpPr>
        <p:spPr>
          <a:xfrm>
            <a:off x="7603826" y="1184985"/>
            <a:ext cx="45881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优点：通过算法分配，负载均衡</a:t>
            </a:r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  <a:p>
            <a:pPr algn="l"/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  <a:p>
            <a:pPr algn="l"/>
            <a:r>
              <a:rPr lang="zh-CN" altLang="en-US" sz="2000" i="0" dirty="0">
                <a:solidFill>
                  <a:srgbClr val="FF0000"/>
                </a:solidFill>
                <a:effectLst/>
                <a:latin typeface="-apple-system"/>
              </a:rPr>
              <a:t>缺点：当添加节点的时候，需要重新计算。例如当分片数量为</a:t>
            </a:r>
            <a:r>
              <a:rPr lang="en-US" altLang="zh-CN" sz="2000" i="0" dirty="0">
                <a:solidFill>
                  <a:srgbClr val="FF0000"/>
                </a:solidFill>
                <a:effectLst/>
                <a:latin typeface="-apple-system"/>
              </a:rPr>
              <a:t>4</a:t>
            </a:r>
            <a:r>
              <a:rPr lang="zh-CN" altLang="en-US" sz="2000" i="0" dirty="0">
                <a:solidFill>
                  <a:srgbClr val="FF0000"/>
                </a:solidFill>
                <a:effectLst/>
                <a:latin typeface="-apple-system"/>
              </a:rPr>
              <a:t>时，“</a:t>
            </a:r>
            <a:r>
              <a:rPr lang="en-US" altLang="zh-CN" sz="2000" i="0" dirty="0">
                <a:solidFill>
                  <a:srgbClr val="FF0000"/>
                </a:solidFill>
                <a:effectLst/>
                <a:latin typeface="-apple-system"/>
              </a:rPr>
              <a:t>abc1</a:t>
            </a:r>
            <a:r>
              <a:rPr lang="zh-CN" altLang="en-US" sz="2000" i="0" dirty="0">
                <a:solidFill>
                  <a:srgbClr val="FF0000"/>
                </a:solidFill>
                <a:effectLst/>
                <a:latin typeface="-apple-system"/>
              </a:rPr>
              <a:t>”分片位置则变成了</a:t>
            </a:r>
            <a:r>
              <a:rPr lang="en-US" altLang="zh-CN" sz="2000" i="0" dirty="0">
                <a:solidFill>
                  <a:srgbClr val="FF0000"/>
                </a:solidFill>
                <a:effectLst/>
                <a:latin typeface="-apple-system"/>
              </a:rPr>
              <a:t>hash(key) mode 4</a:t>
            </a:r>
          </a:p>
          <a:p>
            <a:pPr algn="l"/>
            <a:r>
              <a:rPr lang="en-US" altLang="zh-CN" sz="2000" dirty="0">
                <a:solidFill>
                  <a:srgbClr val="FF0000"/>
                </a:solidFill>
                <a:latin typeface="-apple-system"/>
              </a:rPr>
              <a:t>10%4 = 2</a:t>
            </a:r>
            <a:r>
              <a:rPr lang="zh-CN" altLang="en-US" sz="2000" dirty="0">
                <a:solidFill>
                  <a:srgbClr val="FF0000"/>
                </a:solidFill>
                <a:latin typeface="-apple-system"/>
              </a:rPr>
              <a:t>了</a:t>
            </a:r>
            <a:endParaRPr lang="en-US" altLang="zh-CN" sz="2000" dirty="0">
              <a:solidFill>
                <a:srgbClr val="FF0000"/>
              </a:solidFill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EF33AC-3A83-45B0-A4EF-C35626723829}"/>
              </a:ext>
            </a:extLst>
          </p:cNvPr>
          <p:cNvSpPr txBox="1"/>
          <p:nvPr/>
        </p:nvSpPr>
        <p:spPr>
          <a:xfrm>
            <a:off x="491411" y="1800538"/>
            <a:ext cx="68598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将关键字通过</a:t>
            </a:r>
            <a:r>
              <a:rPr lang="en-US" altLang="zh-CN" sz="2000" dirty="0"/>
              <a:t>Hash</a:t>
            </a:r>
            <a:r>
              <a:rPr lang="zh-CN" altLang="en-US" sz="2000" dirty="0"/>
              <a:t>函数变成数字之后取模操作得到对应分片。</a:t>
            </a:r>
            <a:endParaRPr lang="en-US" altLang="zh-CN" sz="2000" dirty="0"/>
          </a:p>
          <a:p>
            <a:r>
              <a:rPr lang="zh-CN" altLang="en-US" sz="2000" dirty="0"/>
              <a:t>例如要将数据分到</a:t>
            </a:r>
            <a:r>
              <a:rPr lang="en-US" altLang="zh-CN" sz="2000" dirty="0"/>
              <a:t>3</a:t>
            </a:r>
            <a:r>
              <a:rPr lang="zh-CN" altLang="en-US" sz="2000" dirty="0"/>
              <a:t>个分片中，则分片 </a:t>
            </a:r>
            <a:r>
              <a:rPr lang="en-US" altLang="zh-CN" sz="2000" dirty="0"/>
              <a:t>= hash(key) mod 3</a:t>
            </a:r>
          </a:p>
          <a:p>
            <a:r>
              <a:rPr lang="zh-CN" altLang="en-US" sz="2000" dirty="0"/>
              <a:t>例如</a:t>
            </a:r>
            <a:r>
              <a:rPr lang="en-US" altLang="zh-CN" sz="2000" dirty="0"/>
              <a:t>hash (“abc1”) = 10 % 3 = 1</a:t>
            </a:r>
          </a:p>
          <a:p>
            <a:r>
              <a:rPr lang="en-US" altLang="zh-CN" sz="2000" dirty="0"/>
              <a:t>        hash(“abc2”) = 11%3 = 2</a:t>
            </a:r>
          </a:p>
          <a:p>
            <a:r>
              <a:rPr lang="en-US" altLang="zh-CN" sz="2000" dirty="0"/>
              <a:t>        hash(“abc3”) = 12%3 = 0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BC9B45-A6F2-492E-9B2F-E3C185663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60" y="3365458"/>
            <a:ext cx="2238095" cy="305714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1633EDB-4675-4D14-9BA7-A97C9276E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693" y="3251172"/>
            <a:ext cx="2000000" cy="3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3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分片规则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FC5640-7123-491D-A2CE-6F481BCDC2F2}"/>
              </a:ext>
            </a:extLst>
          </p:cNvPr>
          <p:cNvSpPr txBox="1"/>
          <p:nvPr/>
        </p:nvSpPr>
        <p:spPr>
          <a:xfrm>
            <a:off x="668693" y="103350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一致性</a:t>
            </a:r>
            <a:r>
              <a:rPr lang="en-US" altLang="zh-CN" sz="2000" dirty="0">
                <a:solidFill>
                  <a:srgbClr val="121212"/>
                </a:solidFill>
                <a:latin typeface="-apple-system"/>
              </a:rPr>
              <a:t>Hash</a:t>
            </a: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算法 </a:t>
            </a:r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  <a:p>
            <a:r>
              <a:rPr lang="zh-CN" altLang="en-US" sz="2000" dirty="0"/>
              <a:t>将整个</a:t>
            </a:r>
            <a:r>
              <a:rPr lang="en-US" altLang="zh-CN" sz="2000" dirty="0"/>
              <a:t>Hash</a:t>
            </a:r>
            <a:r>
              <a:rPr lang="zh-CN" altLang="en-US" sz="2000" dirty="0"/>
              <a:t>空间组织成一个圆环</a:t>
            </a:r>
            <a:endParaRPr lang="en-US" altLang="zh-CN" sz="2000" dirty="0"/>
          </a:p>
          <a:p>
            <a:r>
              <a:rPr lang="zh-CN" altLang="en-US" sz="2000" dirty="0"/>
              <a:t>分片</a:t>
            </a:r>
            <a:r>
              <a:rPr lang="en-US" altLang="zh-CN" sz="2000" dirty="0"/>
              <a:t>=hash(key) mode 2^32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2F9F41-4B19-4E49-807D-40E961CD9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583" y="2130689"/>
            <a:ext cx="3600219" cy="36938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F594311-FA8D-4F79-B788-39A087413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593" y="1815685"/>
            <a:ext cx="4342857" cy="432380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43E8817-C8BB-4A1E-A718-6FDB05481FF1}"/>
              </a:ext>
            </a:extLst>
          </p:cNvPr>
          <p:cNvSpPr txBox="1"/>
          <p:nvPr/>
        </p:nvSpPr>
        <p:spPr>
          <a:xfrm>
            <a:off x="5181599" y="1120434"/>
            <a:ext cx="6341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求出节点的哈希值，并将其配置到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0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～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2</a:t>
            </a:r>
            <a:r>
              <a:rPr lang="en-US" altLang="zh-CN" b="0" i="0" baseline="3000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32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的圆（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continuum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）上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211BF8-B49C-424B-B5B5-6197F7EE323E}"/>
              </a:ext>
            </a:extLst>
          </p:cNvPr>
          <p:cNvSpPr txBox="1"/>
          <p:nvPr/>
        </p:nvSpPr>
        <p:spPr>
          <a:xfrm>
            <a:off x="1423773" y="6018245"/>
            <a:ext cx="81860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David Karger, Eric Lehman, Tom Leighton, Rina Panigrahy, Matthew Levine, and Daniel Lewin. 1997. Consistent hashing and random trees: distributed caching protocols for relieving hot spots on the World Wide Web. </a:t>
            </a:r>
          </a:p>
        </p:txBody>
      </p:sp>
    </p:spTree>
    <p:extLst>
      <p:ext uri="{BB962C8B-B14F-4D97-AF65-F5344CB8AC3E}">
        <p14:creationId xmlns:p14="http://schemas.microsoft.com/office/powerpoint/2010/main" val="12511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分片规则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FC5640-7123-491D-A2CE-6F481BCDC2F2}"/>
              </a:ext>
            </a:extLst>
          </p:cNvPr>
          <p:cNvSpPr txBox="1"/>
          <p:nvPr/>
        </p:nvSpPr>
        <p:spPr>
          <a:xfrm>
            <a:off x="668693" y="103350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一致性</a:t>
            </a:r>
            <a:r>
              <a:rPr lang="en-US" altLang="zh-CN" sz="2000" dirty="0">
                <a:solidFill>
                  <a:srgbClr val="121212"/>
                </a:solidFill>
                <a:latin typeface="-apple-system"/>
              </a:rPr>
              <a:t>Hash</a:t>
            </a: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算法 </a:t>
            </a:r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54C539-0B7D-4EDD-94B7-B281A8918E06}"/>
              </a:ext>
            </a:extLst>
          </p:cNvPr>
          <p:cNvSpPr txBox="1"/>
          <p:nvPr/>
        </p:nvSpPr>
        <p:spPr>
          <a:xfrm>
            <a:off x="491411" y="1621180"/>
            <a:ext cx="56493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对数据的关键字进行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hash(key) mod 2^32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操作，找到数据在圆环上的位置，从数据保存的位置开始找，找到的第一个节点就是存储位置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D42AC0-DEB7-4A21-B149-0BA9D8909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3" y="2544510"/>
            <a:ext cx="4495238" cy="421904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5BB9C6-CABD-4302-A3AA-5D97452DC98E}"/>
              </a:ext>
            </a:extLst>
          </p:cNvPr>
          <p:cNvSpPr txBox="1"/>
          <p:nvPr/>
        </p:nvSpPr>
        <p:spPr>
          <a:xfrm>
            <a:off x="6201748" y="1538942"/>
            <a:ext cx="5649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分别加入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3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个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data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，他们所属的节点如下图所示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0F6DD05-C756-49CD-BADF-217377952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175" y="2732072"/>
            <a:ext cx="3684268" cy="34714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04668C9-4771-4C44-9D5D-6DAA25715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717" y="2883798"/>
            <a:ext cx="1702612" cy="358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4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分片规则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FC5640-7123-491D-A2CE-6F481BCDC2F2}"/>
              </a:ext>
            </a:extLst>
          </p:cNvPr>
          <p:cNvSpPr txBox="1"/>
          <p:nvPr/>
        </p:nvSpPr>
        <p:spPr>
          <a:xfrm>
            <a:off x="668693" y="103350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一致性</a:t>
            </a:r>
            <a:r>
              <a:rPr lang="en-US" altLang="zh-CN" sz="2000" dirty="0">
                <a:solidFill>
                  <a:srgbClr val="121212"/>
                </a:solidFill>
                <a:latin typeface="-apple-system"/>
              </a:rPr>
              <a:t>Hash</a:t>
            </a: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算法 </a:t>
            </a:r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5BB9C6-CABD-4302-A3AA-5D97452DC98E}"/>
              </a:ext>
            </a:extLst>
          </p:cNvPr>
          <p:cNvSpPr txBox="1"/>
          <p:nvPr/>
        </p:nvSpPr>
        <p:spPr>
          <a:xfrm>
            <a:off x="1035698" y="1433618"/>
            <a:ext cx="56493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这样，在添加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/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删除一个节点的时候，只需要迁移部分数据，如下图，如加入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node4,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只需要把原本属于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node2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（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node1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和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node2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之间部分）中的一部分（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node1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到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node4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之间的数据迁移到</a:t>
            </a:r>
            <a:r>
              <a:rPr lang="en-US" altLang="zh-CN" dirty="0">
                <a:solidFill>
                  <a:srgbClr val="444444"/>
                </a:solidFill>
                <a:latin typeface="Tahoma" panose="020B0604030504040204" pitchFamily="34" charset="0"/>
              </a:rPr>
              <a:t>node4</a:t>
            </a:r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即可）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1F6B695-AFE0-45D7-A75F-B79A1E392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241" y="2389671"/>
            <a:ext cx="4063292" cy="410691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7F452FC-B0C0-4884-A0DC-6316069D2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270" y="3034057"/>
            <a:ext cx="2714279" cy="315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分片规则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FC5640-7123-491D-A2CE-6F481BCDC2F2}"/>
              </a:ext>
            </a:extLst>
          </p:cNvPr>
          <p:cNvSpPr txBox="1"/>
          <p:nvPr/>
        </p:nvSpPr>
        <p:spPr>
          <a:xfrm>
            <a:off x="668693" y="103350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一致性</a:t>
            </a:r>
            <a:r>
              <a:rPr lang="en-US" altLang="zh-CN" sz="2000" dirty="0">
                <a:solidFill>
                  <a:srgbClr val="121212"/>
                </a:solidFill>
                <a:latin typeface="-apple-system"/>
              </a:rPr>
              <a:t>Hash</a:t>
            </a:r>
            <a:r>
              <a:rPr lang="zh-CN" altLang="en-US" sz="2000" dirty="0">
                <a:solidFill>
                  <a:srgbClr val="121212"/>
                </a:solidFill>
                <a:latin typeface="-apple-system"/>
              </a:rPr>
              <a:t>算法 </a:t>
            </a:r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54C539-0B7D-4EDD-94B7-B281A8918E06}"/>
              </a:ext>
            </a:extLst>
          </p:cNvPr>
          <p:cNvSpPr txBox="1"/>
          <p:nvPr/>
        </p:nvSpPr>
        <p:spPr>
          <a:xfrm>
            <a:off x="491411" y="1621180"/>
            <a:ext cx="5649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数据倾斜，当节点较少，数据容易分布到一个节点上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77D2D8-A556-4F6E-9B14-7611FCBAA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80" y="2313366"/>
            <a:ext cx="4182255" cy="400005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BD0ABA1-1F85-40F2-BDE0-4CA66C2B38A9}"/>
              </a:ext>
            </a:extLst>
          </p:cNvPr>
          <p:cNvSpPr txBox="1"/>
          <p:nvPr/>
        </p:nvSpPr>
        <p:spPr>
          <a:xfrm>
            <a:off x="6444343" y="1233563"/>
            <a:ext cx="4912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解决办法：对节点再做一次或者多次</a:t>
            </a:r>
            <a:r>
              <a:rPr lang="en-US" altLang="zh-CN" dirty="0"/>
              <a:t>Hash</a:t>
            </a:r>
            <a:r>
              <a:rPr lang="zh-CN" altLang="en-US" dirty="0"/>
              <a:t>，放置进圆环（虚拟节点位置）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B443692-9088-4BD7-997A-83513A0C6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089" y="2313366"/>
            <a:ext cx="3955310" cy="399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0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分片规则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FC5640-7123-491D-A2CE-6F481BCDC2F2}"/>
              </a:ext>
            </a:extLst>
          </p:cNvPr>
          <p:cNvSpPr txBox="1"/>
          <p:nvPr/>
        </p:nvSpPr>
        <p:spPr>
          <a:xfrm>
            <a:off x="668693" y="103350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000" i="0" dirty="0">
                <a:solidFill>
                  <a:srgbClr val="121212"/>
                </a:solidFill>
                <a:effectLst/>
                <a:latin typeface="-apple-system"/>
              </a:rPr>
              <a:t>基于目录的分片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54C539-0B7D-4EDD-94B7-B281A8918E06}"/>
              </a:ext>
            </a:extLst>
          </p:cNvPr>
          <p:cNvSpPr txBox="1"/>
          <p:nvPr/>
        </p:nvSpPr>
        <p:spPr>
          <a:xfrm>
            <a:off x="491411" y="1621180"/>
            <a:ext cx="5649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44444"/>
                </a:solidFill>
                <a:latin typeface="Tahoma" panose="020B0604030504040204" pitchFamily="34" charset="0"/>
              </a:rPr>
              <a:t>创建一个分片表，将数据具体分到那个分片记录下来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980D8C1-E797-4DF6-9D33-631220174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291" y="2792872"/>
            <a:ext cx="2238095" cy="305714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0C0A262-C8AC-406B-AC71-895A37C86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089" y="2765746"/>
            <a:ext cx="2000000" cy="32857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E556099-84B5-457C-B98B-75315244F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331" y="2575323"/>
            <a:ext cx="2028571" cy="275238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ABB2B38-0311-4D7A-9538-97EC4C56FEDF}"/>
              </a:ext>
            </a:extLst>
          </p:cNvPr>
          <p:cNvSpPr txBox="1"/>
          <p:nvPr/>
        </p:nvSpPr>
        <p:spPr>
          <a:xfrm>
            <a:off x="7842331" y="162118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优点：灵活，根据数据手动分配</a:t>
            </a:r>
            <a:endParaRPr lang="en-US" altLang="zh-CN" dirty="0"/>
          </a:p>
          <a:p>
            <a:r>
              <a:rPr lang="zh-CN" altLang="en-US" dirty="0"/>
              <a:t>缺点：需要手动指定</a:t>
            </a:r>
          </a:p>
        </p:txBody>
      </p:sp>
    </p:spTree>
    <p:extLst>
      <p:ext uri="{BB962C8B-B14F-4D97-AF65-F5344CB8AC3E}">
        <p14:creationId xmlns:p14="http://schemas.microsoft.com/office/powerpoint/2010/main" val="304927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数据分布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F430A8-A2FE-4B08-84AB-76011D35F816}"/>
              </a:ext>
            </a:extLst>
          </p:cNvPr>
          <p:cNvSpPr txBox="1"/>
          <p:nvPr/>
        </p:nvSpPr>
        <p:spPr>
          <a:xfrm>
            <a:off x="858416" y="17138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数据分布：分片完成之后如何存放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DDD20F-CEE9-40AE-9BFF-735E7BA70BD6}"/>
              </a:ext>
            </a:extLst>
          </p:cNvPr>
          <p:cNvSpPr txBox="1"/>
          <p:nvPr/>
        </p:nvSpPr>
        <p:spPr>
          <a:xfrm>
            <a:off x="858416" y="26848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一、集中式：不复制，不划分，都放在一个节点上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B1E997-404B-4F24-9965-A47FE1CF1366}"/>
              </a:ext>
            </a:extLst>
          </p:cNvPr>
          <p:cNvSpPr txBox="1"/>
          <p:nvPr/>
        </p:nvSpPr>
        <p:spPr>
          <a:xfrm>
            <a:off x="858416" y="3619195"/>
            <a:ext cx="5034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二、划分式：不复制，只划分，分配到不同站点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ED6734-334F-4ADA-902A-E02E9D0F4DED}"/>
              </a:ext>
            </a:extLst>
          </p:cNvPr>
          <p:cNvSpPr txBox="1"/>
          <p:nvPr/>
        </p:nvSpPr>
        <p:spPr>
          <a:xfrm>
            <a:off x="858416" y="45535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三、全复制式：每个站点都有所有数据的复制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588DBB-A894-46CD-803E-FD4785A2C167}"/>
              </a:ext>
            </a:extLst>
          </p:cNvPr>
          <p:cNvSpPr txBox="1"/>
          <p:nvPr/>
        </p:nvSpPr>
        <p:spPr>
          <a:xfrm>
            <a:off x="858416" y="54879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四、混合式：部分复制，如每个切片复制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3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份，划分到不同的节点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2607246-4DE3-4F39-A9FF-86E0EB9D7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89" y="906601"/>
            <a:ext cx="5034642" cy="542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9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70978" y="254980"/>
            <a:ext cx="1826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数据分布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56E0A2-37BE-4538-BFBD-4AA1E90655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62"/>
          <a:stretch/>
        </p:blipFill>
        <p:spPr>
          <a:xfrm>
            <a:off x="2673531" y="940526"/>
            <a:ext cx="6693267" cy="55141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DAEA6F5-3207-476D-B2E3-59D2F131678C}"/>
              </a:ext>
            </a:extLst>
          </p:cNvPr>
          <p:cNvSpPr txBox="1"/>
          <p:nvPr/>
        </p:nvSpPr>
        <p:spPr>
          <a:xfrm>
            <a:off x="858416" y="3105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solidFill>
                  <a:srgbClr val="4D4D4D"/>
                </a:solidFill>
                <a:effectLst/>
                <a:latin typeface="-apple-system"/>
              </a:rPr>
              <a:t>集中式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64329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数据分布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CBED82-7579-4F96-8AF8-BAB065CBB629}"/>
              </a:ext>
            </a:extLst>
          </p:cNvPr>
          <p:cNvSpPr txBox="1"/>
          <p:nvPr/>
        </p:nvSpPr>
        <p:spPr>
          <a:xfrm>
            <a:off x="957942" y="3244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solidFill>
                  <a:srgbClr val="4D4D4D"/>
                </a:solidFill>
                <a:effectLst/>
                <a:latin typeface="-apple-system"/>
              </a:rPr>
              <a:t>划分式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B19059-4F77-43D6-9899-78D50AE8C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254" y="1144814"/>
            <a:ext cx="7229375" cy="54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2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数据分布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CBED82-7579-4F96-8AF8-BAB065CBB629}"/>
              </a:ext>
            </a:extLst>
          </p:cNvPr>
          <p:cNvSpPr txBox="1"/>
          <p:nvPr/>
        </p:nvSpPr>
        <p:spPr>
          <a:xfrm>
            <a:off x="957942" y="3244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solidFill>
                  <a:srgbClr val="4D4D4D"/>
                </a:solidFill>
                <a:effectLst/>
                <a:latin typeface="-apple-system"/>
              </a:rPr>
              <a:t>全复制式</a:t>
            </a:r>
            <a:endParaRPr lang="zh-CN" altLang="en-US" sz="3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FA8E8E-0F64-447D-A27E-1C0362429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954" y="1046081"/>
            <a:ext cx="6294716" cy="516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4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数据分布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CBED82-7579-4F96-8AF8-BAB065CBB629}"/>
              </a:ext>
            </a:extLst>
          </p:cNvPr>
          <p:cNvSpPr txBox="1"/>
          <p:nvPr/>
        </p:nvSpPr>
        <p:spPr>
          <a:xfrm>
            <a:off x="957942" y="3244334"/>
            <a:ext cx="2499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solidFill>
                  <a:srgbClr val="4D4D4D"/>
                </a:solidFill>
                <a:effectLst/>
                <a:latin typeface="-apple-system"/>
              </a:rPr>
              <a:t>混合式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E8A760-6DBE-44BA-87FE-7B3DCFABBA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9"/>
          <a:stretch/>
        </p:blipFill>
        <p:spPr>
          <a:xfrm>
            <a:off x="6370605" y="1036319"/>
            <a:ext cx="4571429" cy="561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3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C31CB72-D5C3-447E-B114-A2CC56F6E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536" y="0"/>
            <a:ext cx="8138275" cy="574765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D5F7B3B-0026-487B-A1C3-637D6401DA73}"/>
              </a:ext>
            </a:extLst>
          </p:cNvPr>
          <p:cNvSpPr/>
          <p:nvPr/>
        </p:nvSpPr>
        <p:spPr>
          <a:xfrm>
            <a:off x="-16009" y="1524282"/>
            <a:ext cx="12192000" cy="1554819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EB7044-CE97-4E22-8134-2D2486C35593}"/>
              </a:ext>
            </a:extLst>
          </p:cNvPr>
          <p:cNvSpPr txBox="1"/>
          <p:nvPr/>
        </p:nvSpPr>
        <p:spPr>
          <a:xfrm>
            <a:off x="1236886" y="1797306"/>
            <a:ext cx="3468395" cy="1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Part 05</a:t>
            </a:r>
            <a:endParaRPr lang="zh-CN" altLang="en-US" sz="6000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4" name="箭头: V 形 13">
            <a:extLst>
              <a:ext uri="{FF2B5EF4-FFF2-40B4-BE49-F238E27FC236}">
                <a16:creationId xmlns:a16="http://schemas.microsoft.com/office/drawing/2014/main" id="{1B0C058D-54FE-4F0D-99E3-0ABEDC8412E1}"/>
              </a:ext>
            </a:extLst>
          </p:cNvPr>
          <p:cNvSpPr/>
          <p:nvPr/>
        </p:nvSpPr>
        <p:spPr>
          <a:xfrm rot="5400000">
            <a:off x="5912213" y="6023052"/>
            <a:ext cx="367574" cy="637310"/>
          </a:xfrm>
          <a:prstGeom prst="chevron">
            <a:avLst>
              <a:gd name="adj" fmla="val 70000"/>
            </a:avLst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4036" y="3985523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查询优化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54036" y="4970343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51235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查询优化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3378" y="3348595"/>
            <a:ext cx="111892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/>
              <a:t>分布式查询总代价</a:t>
            </a:r>
            <a:r>
              <a:rPr lang="en-US" altLang="zh-CN" sz="3200" dirty="0"/>
              <a:t>=CPU</a:t>
            </a:r>
            <a:r>
              <a:rPr lang="zh-CN" altLang="zh-CN" sz="3200" dirty="0"/>
              <a:t>代价</a:t>
            </a:r>
            <a:r>
              <a:rPr lang="en-US" altLang="zh-CN" sz="3200" dirty="0"/>
              <a:t>+</a:t>
            </a:r>
            <a:r>
              <a:rPr lang="zh-CN" altLang="zh-CN" sz="3200" dirty="0"/>
              <a:t>计算机</a:t>
            </a:r>
            <a:r>
              <a:rPr lang="en-US" altLang="zh-CN" sz="3200" dirty="0"/>
              <a:t>I/O </a:t>
            </a:r>
            <a:r>
              <a:rPr lang="zh-CN" altLang="zh-CN" sz="3200" dirty="0"/>
              <a:t>代价</a:t>
            </a:r>
            <a:r>
              <a:rPr lang="en-US" altLang="zh-CN" sz="3200" dirty="0"/>
              <a:t>+</a:t>
            </a:r>
            <a:r>
              <a:rPr lang="zh-CN" altLang="zh-CN" sz="3200" dirty="0"/>
              <a:t>网络通信代价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3355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基于关系代数等价变换查询优化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87337" y="4873659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employee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25" y="1115788"/>
            <a:ext cx="4486515" cy="35504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752767" y="4873659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employee1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9752813" y="489251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employee2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899" y="1115788"/>
            <a:ext cx="3391027" cy="35504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370" y="1115788"/>
            <a:ext cx="2261477" cy="350369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345999" y="58143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垂直分片</a:t>
            </a:r>
          </a:p>
        </p:txBody>
      </p:sp>
    </p:spTree>
    <p:extLst>
      <p:ext uri="{BB962C8B-B14F-4D97-AF65-F5344CB8AC3E}">
        <p14:creationId xmlns:p14="http://schemas.microsoft.com/office/powerpoint/2010/main" val="50524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基于关系代数等价变换查询优化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86936" y="4616359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employee11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8313311" y="4716184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employee12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15" y="1266744"/>
            <a:ext cx="5272863" cy="30224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974" y="1266744"/>
            <a:ext cx="5123623" cy="302245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344978" y="55746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水平分片</a:t>
            </a:r>
          </a:p>
        </p:txBody>
      </p:sp>
    </p:spTree>
    <p:extLst>
      <p:ext uri="{BB962C8B-B14F-4D97-AF65-F5344CB8AC3E}">
        <p14:creationId xmlns:p14="http://schemas.microsoft.com/office/powerpoint/2010/main" val="352615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基于关系代数等价变换查询优化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0660" y="1500877"/>
            <a:ext cx="10033516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查询问题：</a:t>
            </a:r>
            <a:r>
              <a:rPr lang="zh-CN" altLang="zh-CN" sz="2400" dirty="0"/>
              <a:t>性别为男性且月工资在 </a:t>
            </a:r>
            <a:r>
              <a:rPr lang="en-US" altLang="zh-CN" sz="2400" dirty="0"/>
              <a:t>3000</a:t>
            </a:r>
            <a:r>
              <a:rPr lang="zh-CN" altLang="zh-CN" sz="2400" dirty="0"/>
              <a:t>元以上的所有职员的姓名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SQL</a:t>
            </a:r>
            <a:r>
              <a:rPr lang="zh-CN" altLang="en-US" sz="2400" dirty="0"/>
              <a:t>语句：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Select name</a:t>
            </a:r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From employee</a:t>
            </a:r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Where sex='m' and salary&gt;=3000</a:t>
            </a:r>
          </a:p>
          <a:p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关系代数表达式：</a:t>
            </a:r>
            <a:r>
              <a:rPr lang="en-US" altLang="zh-CN" sz="2800" dirty="0">
                <a:solidFill>
                  <a:srgbClr val="FF0000"/>
                </a:solidFill>
              </a:rPr>
              <a:t>πname(</a:t>
            </a:r>
            <a:r>
              <a:rPr lang="en-US" altLang="zh-CN" sz="2800" dirty="0" err="1">
                <a:solidFill>
                  <a:srgbClr val="FF0000"/>
                </a:solidFill>
              </a:rPr>
              <a:t>σsex</a:t>
            </a:r>
            <a:r>
              <a:rPr lang="en-US" altLang="zh-CN" sz="2800" dirty="0">
                <a:solidFill>
                  <a:srgbClr val="FF0000"/>
                </a:solidFill>
              </a:rPr>
              <a:t>='m'∩ salary&gt;=3000(employee))</a:t>
            </a: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18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查询优化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16539" y="159506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/>
              <a:t>π</a:t>
            </a:r>
            <a:r>
              <a:rPr lang="en-US" altLang="zh-CN" dirty="0"/>
              <a:t>name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5995069" y="2030418"/>
            <a:ext cx="0" cy="1121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769352" y="3543217"/>
            <a:ext cx="257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/>
              <a:t>σ</a:t>
            </a:r>
            <a:r>
              <a:rPr lang="en-US" altLang="zh-CN" dirty="0"/>
              <a:t>sex=‘m’</a:t>
            </a:r>
            <a:r>
              <a:rPr lang="zh-CN" altLang="en-US" dirty="0"/>
              <a:t> ∩</a:t>
            </a:r>
            <a:r>
              <a:rPr lang="en-US" altLang="zh-CN" dirty="0"/>
              <a:t>salary&gt;3000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5995069" y="4140193"/>
            <a:ext cx="4074" cy="1003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526901" y="5229509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employee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71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查询优化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20628" y="4449928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employee12</a:t>
            </a:r>
            <a:endParaRPr lang="zh-CN" altLang="en-US" sz="2000" dirty="0"/>
          </a:p>
        </p:txBody>
      </p:sp>
      <p:sp>
        <p:nvSpPr>
          <p:cNvPr id="31" name="文本框 30"/>
          <p:cNvSpPr txBox="1"/>
          <p:nvPr/>
        </p:nvSpPr>
        <p:spPr>
          <a:xfrm>
            <a:off x="7124823" y="3343802"/>
            <a:ext cx="1337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400" dirty="0"/>
              <a:t>π</a:t>
            </a:r>
            <a:r>
              <a:rPr lang="en-US" altLang="zh-CN" sz="2000" dirty="0" err="1"/>
              <a:t>no,name</a:t>
            </a:r>
            <a:endParaRPr lang="zh-CN" altLang="en-US" sz="2000" dirty="0"/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7605891" y="3750608"/>
            <a:ext cx="17915" cy="62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9997126" y="5450510"/>
            <a:ext cx="1402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employee2</a:t>
            </a:r>
            <a:endParaRPr lang="zh-CN" altLang="en-US" sz="2000" dirty="0"/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10668461" y="4711468"/>
            <a:ext cx="0" cy="713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9738942" y="4390351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000" dirty="0"/>
              <a:t>σ </a:t>
            </a:r>
            <a:r>
              <a:rPr lang="en-US" altLang="zh-CN" sz="2000" dirty="0"/>
              <a:t>salary&gt;3000</a:t>
            </a:r>
            <a:endParaRPr lang="zh-CN" altLang="en-US" sz="2000" dirty="0"/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10668461" y="3750608"/>
            <a:ext cx="0" cy="46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0343374" y="3343802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000" dirty="0"/>
              <a:t>π</a:t>
            </a:r>
            <a:r>
              <a:rPr lang="en-US" altLang="zh-CN" sz="2000" dirty="0"/>
              <a:t>no</a:t>
            </a:r>
            <a:endParaRPr lang="zh-CN" altLang="en-US" sz="2000" dirty="0"/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7623806" y="2974058"/>
            <a:ext cx="1152468" cy="385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352108" y="2965028"/>
            <a:ext cx="1111645" cy="472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7556830" y="2591430"/>
            <a:ext cx="3930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∞</a:t>
            </a:r>
            <a:r>
              <a:rPr lang="en-US" altLang="zh-CN" sz="2000" dirty="0"/>
              <a:t> employee1.no= employee2.no</a:t>
            </a:r>
            <a:endParaRPr lang="zh-CN" altLang="en-US" sz="2000" dirty="0"/>
          </a:p>
        </p:txBody>
      </p:sp>
      <p:cxnSp>
        <p:nvCxnSpPr>
          <p:cNvPr id="63" name="直接连接符 62"/>
          <p:cNvCxnSpPr/>
          <p:nvPr/>
        </p:nvCxnSpPr>
        <p:spPr>
          <a:xfrm>
            <a:off x="9352108" y="1951349"/>
            <a:ext cx="0" cy="6400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8879267" y="1507304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400" dirty="0"/>
              <a:t>π</a:t>
            </a:r>
            <a:r>
              <a:rPr lang="en-US" altLang="zh-CN" sz="2000" dirty="0"/>
              <a:t>name</a:t>
            </a:r>
            <a:endParaRPr lang="zh-CN" altLang="en-US" sz="2000" dirty="0"/>
          </a:p>
        </p:txBody>
      </p:sp>
      <p:sp>
        <p:nvSpPr>
          <p:cNvPr id="32" name="文本框 31"/>
          <p:cNvSpPr txBox="1"/>
          <p:nvPr/>
        </p:nvSpPr>
        <p:spPr>
          <a:xfrm>
            <a:off x="369554" y="5775452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employee11</a:t>
            </a:r>
            <a:endParaRPr lang="zh-CN" altLang="en-US" sz="2000" dirty="0"/>
          </a:p>
        </p:txBody>
      </p:sp>
      <p:sp>
        <p:nvSpPr>
          <p:cNvPr id="34" name="文本框 33"/>
          <p:cNvSpPr txBox="1"/>
          <p:nvPr/>
        </p:nvSpPr>
        <p:spPr>
          <a:xfrm>
            <a:off x="2067949" y="5775452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employee12</a:t>
            </a:r>
            <a:endParaRPr lang="zh-CN" altLang="en-US" sz="2000" dirty="0"/>
          </a:p>
        </p:txBody>
      </p:sp>
      <p:cxnSp>
        <p:nvCxnSpPr>
          <p:cNvPr id="35" name="直接连接符 34"/>
          <p:cNvCxnSpPr>
            <a:stCxn id="32" idx="0"/>
          </p:cNvCxnSpPr>
          <p:nvPr/>
        </p:nvCxnSpPr>
        <p:spPr>
          <a:xfrm flipV="1">
            <a:off x="1138354" y="5418888"/>
            <a:ext cx="587732" cy="356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34" idx="0"/>
          </p:cNvCxnSpPr>
          <p:nvPr/>
        </p:nvCxnSpPr>
        <p:spPr>
          <a:xfrm flipH="1" flipV="1">
            <a:off x="2067949" y="5418888"/>
            <a:ext cx="768800" cy="356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726086" y="502296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∪</a:t>
            </a:r>
          </a:p>
        </p:txBody>
      </p:sp>
      <p:cxnSp>
        <p:nvCxnSpPr>
          <p:cNvPr id="40" name="直接连接符 39"/>
          <p:cNvCxnSpPr/>
          <p:nvPr/>
        </p:nvCxnSpPr>
        <p:spPr>
          <a:xfrm flipV="1">
            <a:off x="1895958" y="4342136"/>
            <a:ext cx="0" cy="618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396975" y="3987675"/>
            <a:ext cx="201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400" dirty="0"/>
              <a:t> σ</a:t>
            </a:r>
            <a:r>
              <a:rPr lang="en-US" altLang="zh-CN" sz="2000" dirty="0"/>
              <a:t>sex=‘m’</a:t>
            </a:r>
            <a:endParaRPr lang="zh-CN" altLang="en-US" sz="2000" dirty="0"/>
          </a:p>
        </p:txBody>
      </p:sp>
      <p:sp>
        <p:nvSpPr>
          <p:cNvPr id="46" name="文本框 45"/>
          <p:cNvSpPr txBox="1"/>
          <p:nvPr/>
        </p:nvSpPr>
        <p:spPr>
          <a:xfrm>
            <a:off x="1396975" y="2974470"/>
            <a:ext cx="1337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400" dirty="0"/>
              <a:t>π</a:t>
            </a:r>
            <a:r>
              <a:rPr lang="en-US" altLang="zh-CN" sz="2000" dirty="0" err="1"/>
              <a:t>no,name</a:t>
            </a:r>
            <a:endParaRPr lang="zh-CN" altLang="en-US" sz="2000" dirty="0"/>
          </a:p>
        </p:txBody>
      </p:sp>
      <p:cxnSp>
        <p:nvCxnSpPr>
          <p:cNvPr id="49" name="直接连接符 48"/>
          <p:cNvCxnSpPr/>
          <p:nvPr/>
        </p:nvCxnSpPr>
        <p:spPr>
          <a:xfrm flipH="1">
            <a:off x="1878043" y="3381276"/>
            <a:ext cx="17915" cy="62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4269278" y="5081178"/>
            <a:ext cx="1402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employee2</a:t>
            </a:r>
            <a:endParaRPr lang="zh-CN" altLang="en-US" sz="2000" dirty="0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4940613" y="4342136"/>
            <a:ext cx="0" cy="713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011094" y="4021019"/>
            <a:ext cx="1779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400" dirty="0"/>
              <a:t>σ </a:t>
            </a:r>
            <a:r>
              <a:rPr lang="en-US" altLang="zh-CN" sz="2000" dirty="0"/>
              <a:t>salary&gt;3000</a:t>
            </a:r>
            <a:endParaRPr lang="zh-CN" altLang="en-US" sz="2000" dirty="0"/>
          </a:p>
        </p:txBody>
      </p:sp>
      <p:cxnSp>
        <p:nvCxnSpPr>
          <p:cNvPr id="53" name="直接连接符 52"/>
          <p:cNvCxnSpPr/>
          <p:nvPr/>
        </p:nvCxnSpPr>
        <p:spPr>
          <a:xfrm flipV="1">
            <a:off x="4940613" y="3381276"/>
            <a:ext cx="0" cy="46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4615526" y="2974470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400" dirty="0"/>
              <a:t>π</a:t>
            </a:r>
            <a:r>
              <a:rPr lang="en-US" altLang="zh-CN" sz="2000" dirty="0"/>
              <a:t>no</a:t>
            </a:r>
            <a:endParaRPr lang="zh-CN" altLang="en-US" sz="2000" dirty="0"/>
          </a:p>
        </p:txBody>
      </p:sp>
      <p:cxnSp>
        <p:nvCxnSpPr>
          <p:cNvPr id="55" name="直接连接符 54"/>
          <p:cNvCxnSpPr/>
          <p:nvPr/>
        </p:nvCxnSpPr>
        <p:spPr>
          <a:xfrm flipV="1">
            <a:off x="1895958" y="2604726"/>
            <a:ext cx="1152468" cy="385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3624260" y="2595696"/>
            <a:ext cx="1111645" cy="472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828982" y="2222098"/>
            <a:ext cx="3930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∞</a:t>
            </a:r>
            <a:r>
              <a:rPr lang="en-US" altLang="zh-CN" sz="2000" dirty="0"/>
              <a:t> employee1.no= employee2.no</a:t>
            </a:r>
            <a:endParaRPr lang="zh-CN" altLang="en-US" sz="2000" dirty="0"/>
          </a:p>
        </p:txBody>
      </p:sp>
      <p:cxnSp>
        <p:nvCxnSpPr>
          <p:cNvPr id="58" name="直接连接符 57"/>
          <p:cNvCxnSpPr/>
          <p:nvPr/>
        </p:nvCxnSpPr>
        <p:spPr>
          <a:xfrm>
            <a:off x="3624260" y="1582017"/>
            <a:ext cx="0" cy="6400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151419" y="1137972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400" dirty="0"/>
              <a:t>π</a:t>
            </a:r>
            <a:r>
              <a:rPr lang="en-US" altLang="zh-CN" sz="2000" dirty="0"/>
              <a:t>name</a:t>
            </a:r>
            <a:endParaRPr lang="zh-CN" altLang="en-US" sz="2000" dirty="0"/>
          </a:p>
        </p:txBody>
      </p:sp>
      <p:sp>
        <p:nvSpPr>
          <p:cNvPr id="6" name="右箭头 5"/>
          <p:cNvSpPr/>
          <p:nvPr/>
        </p:nvSpPr>
        <p:spPr>
          <a:xfrm>
            <a:off x="5759866" y="3197247"/>
            <a:ext cx="1000388" cy="6458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0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基于关系代数等价变换查询优化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1606" y="183510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查询问题</a:t>
            </a:r>
          </a:p>
        </p:txBody>
      </p:sp>
      <p:cxnSp>
        <p:nvCxnSpPr>
          <p:cNvPr id="6" name="直接箭头连接符 5"/>
          <p:cNvCxnSpPr>
            <a:stCxn id="2" idx="3"/>
            <a:endCxn id="11" idx="1"/>
          </p:cNvCxnSpPr>
          <p:nvPr/>
        </p:nvCxnSpPr>
        <p:spPr>
          <a:xfrm>
            <a:off x="2437378" y="2065938"/>
            <a:ext cx="873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310759" y="183510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关系代数表达式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486519" y="183510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查询树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676708" y="2065936"/>
            <a:ext cx="1701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053731" y="4262996"/>
            <a:ext cx="6853158" cy="9687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利用关系代数变换规则对表达式进行优化，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如先执行选择、投影操作，来减少后续的操作量和操作数。</a:t>
            </a:r>
          </a:p>
        </p:txBody>
      </p:sp>
      <p:cxnSp>
        <p:nvCxnSpPr>
          <p:cNvPr id="18" name="肘形连接符 17"/>
          <p:cNvCxnSpPr>
            <a:stCxn id="11" idx="2"/>
          </p:cNvCxnSpPr>
          <p:nvPr/>
        </p:nvCxnSpPr>
        <p:spPr>
          <a:xfrm rot="16200000" flipH="1">
            <a:off x="4488973" y="2288106"/>
            <a:ext cx="837415" cy="8547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302789" y="290335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等价变换</a:t>
            </a:r>
          </a:p>
        </p:txBody>
      </p:sp>
      <p:cxnSp>
        <p:nvCxnSpPr>
          <p:cNvPr id="20" name="肘形连接符 19"/>
          <p:cNvCxnSpPr>
            <a:stCxn id="19" idx="3"/>
            <a:endCxn id="13" idx="2"/>
          </p:cNvCxnSpPr>
          <p:nvPr/>
        </p:nvCxnSpPr>
        <p:spPr>
          <a:xfrm flipV="1">
            <a:off x="6718561" y="2296770"/>
            <a:ext cx="1321956" cy="8374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972714" y="30649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优化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021606" y="113037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原理：</a:t>
            </a:r>
          </a:p>
        </p:txBody>
      </p:sp>
    </p:spTree>
    <p:extLst>
      <p:ext uri="{BB962C8B-B14F-4D97-AF65-F5344CB8AC3E}">
        <p14:creationId xmlns:p14="http://schemas.microsoft.com/office/powerpoint/2010/main" val="354609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072144" y="5220787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8223865" y="5524537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B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622" y="2101869"/>
            <a:ext cx="4346300" cy="252058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632" y="1518241"/>
            <a:ext cx="3588465" cy="38439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半连接算法查询优化</a:t>
            </a:r>
          </a:p>
        </p:txBody>
      </p:sp>
    </p:spTree>
    <p:extLst>
      <p:ext uri="{BB962C8B-B14F-4D97-AF65-F5344CB8AC3E}">
        <p14:creationId xmlns:p14="http://schemas.microsoft.com/office/powerpoint/2010/main" val="40183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22488" y="5006376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A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89" y="2057725"/>
            <a:ext cx="4346300" cy="25205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9357" y="2957611"/>
            <a:ext cx="4867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</a:t>
            </a:r>
            <a:r>
              <a:rPr lang="en-US" altLang="zh-CN" dirty="0"/>
              <a:t>πA (S),</a:t>
            </a:r>
            <a:r>
              <a:rPr lang="zh-CN" altLang="en-US" dirty="0"/>
              <a:t>结果为</a:t>
            </a:r>
            <a:r>
              <a:rPr lang="en-US" altLang="zh-CN" dirty="0">
                <a:sym typeface="Wingdings" panose="05000000000000000000" pitchFamily="2" charset="2"/>
              </a:rPr>
              <a:t>:S’(</a:t>
            </a:r>
            <a:r>
              <a:rPr lang="zh-CN" altLang="en-US" dirty="0">
                <a:sym typeface="Wingdings" panose="05000000000000000000" pitchFamily="2" charset="2"/>
              </a:rPr>
              <a:t>周一</a:t>
            </a:r>
            <a:r>
              <a:rPr lang="en-US" altLang="zh-CN" dirty="0">
                <a:sym typeface="Wingdings" panose="05000000000000000000" pitchFamily="2" charset="2"/>
              </a:rPr>
              <a:t>,</a:t>
            </a:r>
            <a:r>
              <a:rPr lang="zh-CN" altLang="en-US" dirty="0">
                <a:sym typeface="Wingdings" panose="05000000000000000000" pitchFamily="2" charset="2"/>
              </a:rPr>
              <a:t>周二</a:t>
            </a:r>
            <a:r>
              <a:rPr lang="en-US" altLang="zh-CN" dirty="0">
                <a:sym typeface="Wingdings" panose="05000000000000000000" pitchFamily="2" charset="2"/>
              </a:rPr>
              <a:t>,</a:t>
            </a:r>
            <a:r>
              <a:rPr lang="zh-CN" altLang="en-US" dirty="0">
                <a:sym typeface="Wingdings" panose="05000000000000000000" pitchFamily="2" charset="2"/>
              </a:rPr>
              <a:t>周三</a:t>
            </a:r>
            <a:r>
              <a:rPr lang="en-US" altLang="zh-CN" dirty="0">
                <a:sym typeface="Wingdings" panose="05000000000000000000" pitchFamily="2" charset="2"/>
              </a:rPr>
              <a:t>,</a:t>
            </a:r>
            <a:r>
              <a:rPr lang="zh-CN" altLang="en-US" dirty="0">
                <a:sym typeface="Wingdings" panose="05000000000000000000" pitchFamily="2" charset="2"/>
              </a:rPr>
              <a:t>周四</a:t>
            </a:r>
            <a:r>
              <a:rPr lang="en-US" altLang="zh-CN" dirty="0">
                <a:sym typeface="Wingdings" panose="05000000000000000000" pitchFamily="2" charset="2"/>
              </a:rPr>
              <a:t>,</a:t>
            </a:r>
            <a:r>
              <a:rPr lang="zh-CN" altLang="en-US" dirty="0">
                <a:sym typeface="Wingdings" panose="05000000000000000000" pitchFamily="2" charset="2"/>
              </a:rPr>
              <a:t>周五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endParaRPr lang="en-US" altLang="zh-CN" dirty="0"/>
          </a:p>
        </p:txBody>
      </p:sp>
      <p:sp>
        <p:nvSpPr>
          <p:cNvPr id="11" name="下箭头 10"/>
          <p:cNvSpPr/>
          <p:nvPr/>
        </p:nvSpPr>
        <p:spPr>
          <a:xfrm>
            <a:off x="2238704" y="3794474"/>
            <a:ext cx="983768" cy="11035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610" y="5347663"/>
            <a:ext cx="641307" cy="7811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316102" y="561704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B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316102" y="4030538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发送</a:t>
            </a:r>
            <a:r>
              <a:rPr lang="en-US" altLang="zh-CN" dirty="0"/>
              <a:t>S’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374" y="2117437"/>
            <a:ext cx="641307" cy="781141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3296866" y="2386818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A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35698" y="1324184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问题：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部门中跟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部门同一天值班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半连接算法查询优化</a:t>
            </a:r>
          </a:p>
        </p:txBody>
      </p:sp>
    </p:spTree>
    <p:extLst>
      <p:ext uri="{BB962C8B-B14F-4D97-AF65-F5344CB8AC3E}">
        <p14:creationId xmlns:p14="http://schemas.microsoft.com/office/powerpoint/2010/main" val="235291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403" y="1056437"/>
            <a:ext cx="641307" cy="7811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992337" y="1262341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B</a:t>
            </a:r>
            <a:r>
              <a:rPr lang="zh-CN" altLang="en-US" dirty="0"/>
              <a:t>与</a:t>
            </a:r>
            <a:r>
              <a:rPr lang="en-US" altLang="zh-CN" dirty="0"/>
              <a:t>S’</a:t>
            </a:r>
            <a:r>
              <a:rPr lang="zh-CN" altLang="en-US" dirty="0"/>
              <a:t>半连接</a:t>
            </a:r>
            <a:endParaRPr lang="en-US" altLang="zh-CN" dirty="0"/>
          </a:p>
        </p:txBody>
      </p:sp>
      <p:sp>
        <p:nvSpPr>
          <p:cNvPr id="19" name="下箭头 18"/>
          <p:cNvSpPr/>
          <p:nvPr/>
        </p:nvSpPr>
        <p:spPr>
          <a:xfrm>
            <a:off x="1801973" y="3975539"/>
            <a:ext cx="983768" cy="11035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569768" y="23313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计算得到：</a:t>
            </a:r>
            <a:endParaRPr lang="en-US" altLang="zh-CN" dirty="0"/>
          </a:p>
        </p:txBody>
      </p:sp>
      <p:sp>
        <p:nvSpPr>
          <p:cNvPr id="21" name="文本框 20"/>
          <p:cNvSpPr txBox="1"/>
          <p:nvPr/>
        </p:nvSpPr>
        <p:spPr>
          <a:xfrm>
            <a:off x="3871964" y="3682142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结果</a:t>
            </a:r>
            <a:r>
              <a:rPr lang="en-US" altLang="zh-CN" dirty="0"/>
              <a:t>R’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223865" y="5524537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B</a:t>
            </a:r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632" y="1518241"/>
            <a:ext cx="3588465" cy="384395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041287" y="4274299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发送</a:t>
            </a:r>
            <a:r>
              <a:rPr lang="en-US" altLang="zh-CN" dirty="0"/>
              <a:t>R’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403" y="5301950"/>
            <a:ext cx="641307" cy="781141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2973101" y="5460088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A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0842" y="1727900"/>
            <a:ext cx="2252920" cy="192641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半连接算法查询优化</a:t>
            </a:r>
          </a:p>
        </p:txBody>
      </p:sp>
    </p:spTree>
    <p:extLst>
      <p:ext uri="{BB962C8B-B14F-4D97-AF65-F5344CB8AC3E}">
        <p14:creationId xmlns:p14="http://schemas.microsoft.com/office/powerpoint/2010/main" val="271188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183" y="1326517"/>
            <a:ext cx="641307" cy="78114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629881" y="1484655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站点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R’</a:t>
            </a:r>
            <a:r>
              <a:rPr lang="zh-CN" altLang="en-US" dirty="0"/>
              <a:t>连接</a:t>
            </a:r>
            <a:endParaRPr lang="en-US" altLang="zh-CN" dirty="0"/>
          </a:p>
        </p:txBody>
      </p:sp>
      <p:sp>
        <p:nvSpPr>
          <p:cNvPr id="27" name="文本框 26"/>
          <p:cNvSpPr txBox="1"/>
          <p:nvPr/>
        </p:nvSpPr>
        <p:spPr>
          <a:xfrm>
            <a:off x="3915644" y="237322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计算得到结果：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79" y="2910169"/>
            <a:ext cx="3055208" cy="308487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半连接算法查询优化</a:t>
            </a:r>
          </a:p>
        </p:txBody>
      </p:sp>
    </p:spTree>
    <p:extLst>
      <p:ext uri="{BB962C8B-B14F-4D97-AF65-F5344CB8AC3E}">
        <p14:creationId xmlns:p14="http://schemas.microsoft.com/office/powerpoint/2010/main" val="378074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半连接算法查询优化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2773" y="2169335"/>
            <a:ext cx="91871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原理：经过半连接操作减少操作关系，从而减少远程数据查询的数据传输费用和通信时间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比如</a:t>
            </a:r>
            <a:r>
              <a:rPr lang="en-US" altLang="zh-CN" dirty="0">
                <a:solidFill>
                  <a:srgbClr val="FF0000"/>
                </a:solidFill>
              </a:rPr>
              <a:t>EXISTS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IN</a:t>
            </a:r>
            <a:r>
              <a:rPr lang="zh-CN" altLang="en-US" dirty="0"/>
              <a:t>操作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适合远距离物理数据分布，通信费用高的情况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669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AD81CBBC-B6D2-4644-BD7F-7B62BB573C2C}"/>
              </a:ext>
            </a:extLst>
          </p:cNvPr>
          <p:cNvSpPr/>
          <p:nvPr/>
        </p:nvSpPr>
        <p:spPr>
          <a:xfrm>
            <a:off x="603378" y="435399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DE46AE62-816C-4F1D-9FF5-B561730B0A1F}"/>
              </a:ext>
            </a:extLst>
          </p:cNvPr>
          <p:cNvSpPr/>
          <p:nvPr/>
        </p:nvSpPr>
        <p:spPr>
          <a:xfrm>
            <a:off x="858416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5E5E9A-635B-470E-8999-F545F85C8FCA}"/>
              </a:ext>
            </a:extLst>
          </p:cNvPr>
          <p:cNvCxnSpPr/>
          <p:nvPr/>
        </p:nvCxnSpPr>
        <p:spPr>
          <a:xfrm>
            <a:off x="1362269" y="839755"/>
            <a:ext cx="10375641" cy="0"/>
          </a:xfrm>
          <a:prstGeom prst="line">
            <a:avLst/>
          </a:prstGeom>
          <a:ln>
            <a:solidFill>
              <a:srgbClr val="1B828D"/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ACF9282-C903-4DB6-BFDE-7857F11C10F7}"/>
              </a:ext>
            </a:extLst>
          </p:cNvPr>
          <p:cNvSpPr txBox="1"/>
          <p:nvPr/>
        </p:nvSpPr>
        <p:spPr>
          <a:xfrm>
            <a:off x="1362269" y="25498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总结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563E10E0-7CC7-4F32-AC5B-04B0CEC30563}"/>
              </a:ext>
            </a:extLst>
          </p:cNvPr>
          <p:cNvSpPr/>
          <p:nvPr/>
        </p:nvSpPr>
        <p:spPr>
          <a:xfrm>
            <a:off x="314129" y="429208"/>
            <a:ext cx="354564" cy="410547"/>
          </a:xfrm>
          <a:prstGeom prst="chevron">
            <a:avLst/>
          </a:prstGeom>
          <a:solidFill>
            <a:srgbClr val="1B8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2980" y="1090973"/>
            <a:ext cx="96021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为什么会产生分布式数据库系统</a:t>
            </a:r>
            <a:r>
              <a:rPr lang="en-US" altLang="zh-CN" dirty="0"/>
              <a:t>----</a:t>
            </a:r>
            <a:r>
              <a:rPr lang="zh-CN" altLang="en-US" dirty="0"/>
              <a:t>网络时代，数据量迸发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什么是分布式数据系统</a:t>
            </a:r>
            <a:r>
              <a:rPr lang="en-US" altLang="zh-CN" dirty="0"/>
              <a:t>----</a:t>
            </a:r>
            <a:r>
              <a:rPr lang="zh-CN" altLang="en-US" dirty="0"/>
              <a:t>物理上异地，逻辑上整体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</a:t>
            </a:r>
            <a:r>
              <a:rPr lang="zh-CN" altLang="en-US" dirty="0"/>
              <a:t>大数据背景下哪些分布式数据库系统</a:t>
            </a:r>
            <a:r>
              <a:rPr lang="en-US" altLang="zh-CN" dirty="0"/>
              <a:t>----</a:t>
            </a:r>
            <a:r>
              <a:rPr lang="en-US" altLang="zh-CN" dirty="0" err="1"/>
              <a:t>mongoDB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4.</a:t>
            </a:r>
            <a:r>
              <a:rPr lang="zh-CN" altLang="en-US" dirty="0"/>
              <a:t>分布式数据库的特点</a:t>
            </a:r>
            <a:r>
              <a:rPr lang="en-US" altLang="zh-CN" dirty="0"/>
              <a:t>----</a:t>
            </a:r>
            <a:r>
              <a:rPr lang="zh-CN" altLang="en-US" dirty="0"/>
              <a:t>场地自治、场地协作，数据冗余、开销大费用高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5.</a:t>
            </a:r>
            <a:r>
              <a:rPr lang="zh-CN" altLang="en-US" dirty="0"/>
              <a:t>分布式数据库的分类</a:t>
            </a:r>
            <a:r>
              <a:rPr lang="en-US" altLang="zh-CN" dirty="0"/>
              <a:t>----</a:t>
            </a:r>
            <a:r>
              <a:rPr lang="zh-CN" altLang="en-US" dirty="0"/>
              <a:t>同构同质、同构异质、异构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6.</a:t>
            </a:r>
            <a:r>
              <a:rPr lang="zh-CN" altLang="en-US" dirty="0"/>
              <a:t>分布式数据库的体系结构</a:t>
            </a:r>
            <a:r>
              <a:rPr lang="en-US" altLang="zh-CN" dirty="0"/>
              <a:t>----</a:t>
            </a:r>
            <a:r>
              <a:rPr lang="zh-CN" altLang="en-US" dirty="0"/>
              <a:t>数据分片与分配、数据冗余的显式控制、局部独立性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7.</a:t>
            </a:r>
            <a:r>
              <a:rPr lang="zh-CN" altLang="en-US" dirty="0"/>
              <a:t>分布式数据库分布</a:t>
            </a:r>
            <a:r>
              <a:rPr lang="en-US" altLang="zh-CN" dirty="0"/>
              <a:t>----</a:t>
            </a:r>
            <a:r>
              <a:rPr lang="zh-CN" altLang="en-US" dirty="0"/>
              <a:t>集中式、划分式、全复制式、混合式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8.</a:t>
            </a:r>
            <a:r>
              <a:rPr lang="zh-CN" altLang="en-US" dirty="0"/>
              <a:t>分布式数据库分片</a:t>
            </a:r>
            <a:r>
              <a:rPr lang="en-US" altLang="zh-CN" dirty="0"/>
              <a:t>----</a:t>
            </a:r>
            <a:r>
              <a:rPr lang="zh-CN" altLang="en-US" dirty="0"/>
              <a:t>水平、垂直、混合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9.</a:t>
            </a:r>
            <a:r>
              <a:rPr lang="zh-CN" altLang="en-US" dirty="0"/>
              <a:t>分布式数据库查询优化</a:t>
            </a:r>
            <a:r>
              <a:rPr lang="en-US" altLang="zh-CN" dirty="0"/>
              <a:t>----</a:t>
            </a:r>
            <a:r>
              <a:rPr lang="zh-CN" altLang="en-US" dirty="0"/>
              <a:t>查询优化、通信优化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642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C16DAA-CD44-48FD-852D-977BFBD33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953" y="-175124"/>
            <a:ext cx="9752893" cy="688798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81B6F3E-380E-4F3B-B833-6D6CB52DA400}"/>
              </a:ext>
            </a:extLst>
          </p:cNvPr>
          <p:cNvSpPr/>
          <p:nvPr/>
        </p:nvSpPr>
        <p:spPr>
          <a:xfrm>
            <a:off x="0" y="2473038"/>
            <a:ext cx="12192000" cy="2992584"/>
          </a:xfrm>
          <a:prstGeom prst="rect">
            <a:avLst/>
          </a:prstGeom>
          <a:solidFill>
            <a:srgbClr val="047D8A">
              <a:alpha val="85098"/>
            </a:srgbClr>
          </a:solidFill>
          <a:ln>
            <a:noFill/>
          </a:ln>
          <a:effectLst>
            <a:outerShdw blurRad="203200" dist="1524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57E46E-41FE-4905-8921-75D72F0C9E6C}"/>
              </a:ext>
            </a:extLst>
          </p:cNvPr>
          <p:cNvSpPr txBox="1"/>
          <p:nvPr/>
        </p:nvSpPr>
        <p:spPr>
          <a:xfrm>
            <a:off x="1548882" y="3103281"/>
            <a:ext cx="911419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感谢领导批评指正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A5B093-EEFD-4BDC-9FBE-6A7046F73F51}"/>
              </a:ext>
            </a:extLst>
          </p:cNvPr>
          <p:cNvSpPr txBox="1"/>
          <p:nvPr/>
        </p:nvSpPr>
        <p:spPr>
          <a:xfrm rot="20709164">
            <a:off x="819058" y="810518"/>
            <a:ext cx="3486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rgbClr val="1B828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Fighting</a:t>
            </a:r>
            <a:r>
              <a:rPr lang="zh-CN" altLang="en-US" sz="5400" b="1" dirty="0">
                <a:solidFill>
                  <a:srgbClr val="1B828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12046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部门工作总结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1309</Words>
  <Application>Microsoft Office PowerPoint</Application>
  <PresentationFormat>宽屏</PresentationFormat>
  <Paragraphs>256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-apple-system</vt:lpstr>
      <vt:lpstr>等线</vt:lpstr>
      <vt:lpstr>等线 Light</vt:lpstr>
      <vt:lpstr>微软雅黑</vt:lpstr>
      <vt:lpstr>字魂58号-创中黑</vt:lpstr>
      <vt:lpstr>字魂59号-创粗黑</vt:lpstr>
      <vt:lpstr>Arial</vt:lpstr>
      <vt:lpstr>Tahoma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雷 承霖</cp:lastModifiedBy>
  <cp:revision>137</cp:revision>
  <dcterms:created xsi:type="dcterms:W3CDTF">2019-07-29T02:38:01Z</dcterms:created>
  <dcterms:modified xsi:type="dcterms:W3CDTF">2021-03-16T13:25:41Z</dcterms:modified>
</cp:coreProperties>
</file>